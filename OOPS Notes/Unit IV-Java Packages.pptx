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9144000"/>
  <p:notesSz cx="6858000" cy="9144000"/>
  <p:embeddedFontLst>
    <p:embeddedFont>
      <p:font typeface="Nunit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7" roundtripDataSignature="AMtx7mha+bIwZAD+xXGfre/M7k/tEWcm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Nunito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italic.fntdata"/><Relationship Id="rId14" Type="http://schemas.openxmlformats.org/officeDocument/2006/relationships/font" Target="fonts/Nunito-bold.fntdata"/><Relationship Id="rId17" Type="http://customschemas.google.com/relationships/presentationmetadata" Target="metadata"/><Relationship Id="rId16" Type="http://schemas.openxmlformats.org/officeDocument/2006/relationships/font" Target="fonts/Nuni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31168f88e3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g331168f88e3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31168f88e3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g331168f88e3_0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31168f88e3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g331168f88e3_0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31168f88e3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g331168f88e3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31168f88e3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g331168f88e3_0_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31168f88e3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g331168f88e3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31168f88e3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" name="Google Shape;120;g331168f88e3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6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6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6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6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6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6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7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7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7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7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7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7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7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7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7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7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7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7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7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7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7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6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31168f88e3_0_11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n-US" sz="2300">
                <a:solidFill>
                  <a:srgbClr val="9900FF"/>
                </a:solidFill>
              </a:rPr>
              <a:t>Java Packages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g331168f88e3_0_11"/>
          <p:cNvSpPr txBox="1"/>
          <p:nvPr/>
        </p:nvSpPr>
        <p:spPr>
          <a:xfrm>
            <a:off x="74700" y="538800"/>
            <a:ext cx="8938500" cy="64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chemeClr val="dk1"/>
                </a:solidFill>
              </a:rPr>
              <a:t>A java package is a group of similar types of classes, interfaces and sub-packages.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By grouping related classes into packages, Java promotes data encapsulation, making code reusable and easier to manage.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chemeClr val="dk1"/>
                </a:solidFill>
              </a:rPr>
              <a:t>Package in java can be categorized in two form, built-in package and user-defined package.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chemeClr val="dk1"/>
                </a:solidFill>
              </a:rPr>
              <a:t>There are many built-in packages such as java, lang, awt, javax, swing, net, io, util, sql etc.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chemeClr val="dk1"/>
                </a:solidFill>
              </a:rPr>
              <a:t>Advantage of Java Package</a:t>
            </a:r>
            <a:endParaRPr sz="1800">
              <a:solidFill>
                <a:schemeClr val="dk1"/>
              </a:solidFill>
            </a:endParaRPr>
          </a:p>
          <a:p>
            <a:pPr indent="-342900" lvl="0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>
                <a:solidFill>
                  <a:schemeClr val="dk1"/>
                </a:solidFill>
              </a:rPr>
              <a:t>Prevent naming conflicts by allowing classes with the same name to exist in different packages, like college.staff.cse.Employee and college.staff.ee.Employee.</a:t>
            </a:r>
            <a:endParaRPr sz="1800">
              <a:solidFill>
                <a:schemeClr val="dk1"/>
              </a:solidFill>
            </a:endParaRPr>
          </a:p>
          <a:p>
            <a:pPr indent="-342900" lvl="0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>
                <a:solidFill>
                  <a:schemeClr val="dk1"/>
                </a:solidFill>
              </a:rPr>
              <a:t>They make it easier to organize, locate, and use classes, interfaces, and other components.</a:t>
            </a:r>
            <a:endParaRPr sz="1800">
              <a:solidFill>
                <a:schemeClr val="dk1"/>
              </a:solidFill>
            </a:endParaRPr>
          </a:p>
          <a:p>
            <a:pPr indent="-342900" lvl="0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>
                <a:solidFill>
                  <a:schemeClr val="dk1"/>
                </a:solidFill>
              </a:rPr>
              <a:t>Packages also provide controlled access for Protected members that are accessible within the same package and by subclasses.</a:t>
            </a:r>
            <a:endParaRPr sz="1800">
              <a:solidFill>
                <a:schemeClr val="dk1"/>
              </a:solidFill>
            </a:endParaRPr>
          </a:p>
          <a:p>
            <a:pPr indent="-342900" lvl="0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>
                <a:solidFill>
                  <a:schemeClr val="dk1"/>
                </a:solidFill>
              </a:rPr>
              <a:t>Also for default members (no access specifier) that are accessible only within the same package.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31168f88e3_0_19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n-US" sz="2300">
                <a:solidFill>
                  <a:srgbClr val="9900FF"/>
                </a:solidFill>
              </a:rPr>
              <a:t>Working of Java Packages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331168f88e3_0_19"/>
          <p:cNvSpPr txBox="1"/>
          <p:nvPr/>
        </p:nvSpPr>
        <p:spPr>
          <a:xfrm>
            <a:off x="74700" y="538800"/>
            <a:ext cx="8938500" cy="46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rgbClr val="0000FF"/>
                </a:solidFill>
              </a:rPr>
              <a:t>Directory Structure: </a:t>
            </a:r>
            <a:r>
              <a:rPr lang="en-US" sz="1800">
                <a:solidFill>
                  <a:schemeClr val="dk1"/>
                </a:solidFill>
              </a:rPr>
              <a:t>Package names and directory structures are closely related. For example, if a package name is college.staff.cse, then three directories are, college, staff, and cse, where cse is inside staff, and staff is inside the college.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rgbClr val="0000FF"/>
                </a:solidFill>
              </a:rPr>
              <a:t>Naming Conventions: </a:t>
            </a:r>
            <a:r>
              <a:rPr lang="en-US" sz="1800">
                <a:solidFill>
                  <a:schemeClr val="dk1"/>
                </a:solidFill>
              </a:rPr>
              <a:t>Package names are written in reverse order of domain names, e.g., org.geeksforgeeks.practice. In a college, the convention might be:</a:t>
            </a:r>
            <a:endParaRPr sz="1800">
              <a:solidFill>
                <a:schemeClr val="dk1"/>
              </a:solidFill>
            </a:endParaRPr>
          </a:p>
          <a:p>
            <a:pPr indent="-342900" lvl="2" marL="13716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Char char="■"/>
            </a:pPr>
            <a:r>
              <a:rPr lang="en-US" sz="1800">
                <a:solidFill>
                  <a:srgbClr val="FF0000"/>
                </a:solidFill>
              </a:rPr>
              <a:t>college.tech.cse</a:t>
            </a:r>
            <a:endParaRPr sz="1800">
              <a:solidFill>
                <a:srgbClr val="FF0000"/>
              </a:solidFill>
            </a:endParaRPr>
          </a:p>
          <a:p>
            <a:pPr indent="-342900" lvl="2" marL="13716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Char char="■"/>
            </a:pPr>
            <a:r>
              <a:rPr lang="en-US" sz="1800">
                <a:solidFill>
                  <a:srgbClr val="FF0000"/>
                </a:solidFill>
              </a:rPr>
              <a:t>college.tech.ee</a:t>
            </a:r>
            <a:endParaRPr sz="1800">
              <a:solidFill>
                <a:srgbClr val="FF0000"/>
              </a:solidFill>
            </a:endParaRPr>
          </a:p>
          <a:p>
            <a:pPr indent="-342900" lvl="2" marL="13716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Char char="■"/>
            </a:pPr>
            <a:r>
              <a:rPr lang="en-US" sz="1800">
                <a:solidFill>
                  <a:srgbClr val="FF0000"/>
                </a:solidFill>
              </a:rPr>
              <a:t>college.art.history</a:t>
            </a:r>
            <a:endParaRPr sz="1800">
              <a:solidFill>
                <a:srgbClr val="FF0000"/>
              </a:solidFill>
            </a:endParaRPr>
          </a:p>
          <a:p>
            <a:pPr indent="-3429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Char char="●"/>
            </a:pPr>
            <a:r>
              <a:rPr lang="en-US" sz="1800">
                <a:solidFill>
                  <a:srgbClr val="FF0000"/>
                </a:solidFill>
              </a:rPr>
              <a:t>Example</a:t>
            </a:r>
            <a:r>
              <a:rPr i="1" lang="en-US" sz="1950">
                <a:solidFill>
                  <a:srgbClr val="0000FF"/>
                </a:solidFill>
                <a:highlight>
                  <a:schemeClr val="lt1"/>
                </a:highlight>
                <a:latin typeface="Nunito"/>
                <a:ea typeface="Nunito"/>
                <a:cs typeface="Nunito"/>
                <a:sym typeface="Nunito"/>
              </a:rPr>
              <a:t>: import java.util.*;</a:t>
            </a:r>
            <a:endParaRPr i="1" sz="1950">
              <a:solidFill>
                <a:srgbClr val="0000FF"/>
              </a:solidFill>
              <a:highlight>
                <a:schemeClr val="lt1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Here, util is a sub-package created inside the java package</a:t>
            </a:r>
            <a:r>
              <a:rPr lang="en-US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.  </a:t>
            </a:r>
            <a:endParaRPr sz="135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Types of Java Packages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Char char="○"/>
            </a:pPr>
            <a:r>
              <a:rPr lang="en-US" sz="1800">
                <a:solidFill>
                  <a:srgbClr val="0000FF"/>
                </a:solidFill>
              </a:rPr>
              <a:t>Built-in Packages</a:t>
            </a:r>
            <a:endParaRPr sz="1800">
              <a:solidFill>
                <a:srgbClr val="0000FF"/>
              </a:solidFill>
            </a:endParaRPr>
          </a:p>
          <a:p>
            <a:pPr indent="-342900" lvl="1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Char char="○"/>
            </a:pPr>
            <a:r>
              <a:rPr lang="en-US" sz="1800">
                <a:solidFill>
                  <a:srgbClr val="0000FF"/>
                </a:solidFill>
              </a:rPr>
              <a:t>User-defined Packages</a:t>
            </a:r>
            <a:endParaRPr sz="180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31168f88e3_0_27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n-US" sz="2300">
                <a:solidFill>
                  <a:srgbClr val="9900FF"/>
                </a:solidFill>
              </a:rPr>
              <a:t>1. Built-in Packages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g331168f88e3_0_27"/>
          <p:cNvSpPr txBox="1"/>
          <p:nvPr/>
        </p:nvSpPr>
        <p:spPr>
          <a:xfrm>
            <a:off x="74700" y="538800"/>
            <a:ext cx="8938500" cy="39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These packages consist of a large number of classes which are a part of Java API.Some of the commonly used built-in packages are: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rgbClr val="FF0000"/>
                </a:solidFill>
              </a:rPr>
              <a:t>java.lang:</a:t>
            </a:r>
            <a:r>
              <a:rPr lang="en-US" sz="1800">
                <a:solidFill>
                  <a:schemeClr val="dk1"/>
                </a:solidFill>
              </a:rPr>
              <a:t> Contains language support classes(e.g classes which defines primitive data types, math operations). This package is automatically imported.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rgbClr val="FF0000"/>
                </a:solidFill>
              </a:rPr>
              <a:t>java.io:</a:t>
            </a:r>
            <a:r>
              <a:rPr lang="en-US" sz="1800">
                <a:solidFill>
                  <a:schemeClr val="dk1"/>
                </a:solidFill>
              </a:rPr>
              <a:t> Contains classes for supporting input / output operations.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rgbClr val="FF0000"/>
                </a:solidFill>
              </a:rPr>
              <a:t>java.util:</a:t>
            </a:r>
            <a:r>
              <a:rPr lang="en-US" sz="1800">
                <a:solidFill>
                  <a:schemeClr val="dk1"/>
                </a:solidFill>
              </a:rPr>
              <a:t> Contains utility classes which implement data structures like Linked List, Dictionary and support ; for Date / Time operations.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rgbClr val="FF0000"/>
                </a:solidFill>
              </a:rPr>
              <a:t>java.applet: </a:t>
            </a:r>
            <a:r>
              <a:rPr lang="en-US" sz="1800">
                <a:solidFill>
                  <a:schemeClr val="dk1"/>
                </a:solidFill>
              </a:rPr>
              <a:t>Contains classes for creating Applets.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rgbClr val="FF0000"/>
                </a:solidFill>
              </a:rPr>
              <a:t>java.awt:</a:t>
            </a:r>
            <a:r>
              <a:rPr lang="en-US" sz="1800">
                <a:solidFill>
                  <a:schemeClr val="dk1"/>
                </a:solidFill>
              </a:rPr>
              <a:t> Contain classes for implementing the components for graphical user interfaces (like button , ;menus etc). 6)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rgbClr val="FF0000"/>
                </a:solidFill>
              </a:rPr>
              <a:t>java.net:</a:t>
            </a:r>
            <a:r>
              <a:rPr lang="en-US" sz="1800">
                <a:solidFill>
                  <a:schemeClr val="dk1"/>
                </a:solidFill>
              </a:rPr>
              <a:t> Contain classes for supporting networking operations.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31168f88e3_0_32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n-US" sz="2300">
                <a:solidFill>
                  <a:srgbClr val="9900FF"/>
                </a:solidFill>
              </a:rPr>
              <a:t>Accessing Classes Inside a Package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331168f88e3_0_32"/>
          <p:cNvSpPr txBox="1"/>
          <p:nvPr/>
        </p:nvSpPr>
        <p:spPr>
          <a:xfrm>
            <a:off x="74700" y="538800"/>
            <a:ext cx="8938500" cy="44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In Java, we can import classes from a package using either of the following methods: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FF"/>
                </a:solidFill>
              </a:rPr>
              <a:t>1. Import a specific class:</a:t>
            </a:r>
            <a:endParaRPr sz="1800">
              <a:solidFill>
                <a:srgbClr val="0000FF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import java.util.Vector; </a:t>
            </a:r>
            <a:endParaRPr sz="1800">
              <a:solidFill>
                <a:srgbClr val="FF0000"/>
              </a:solidFill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This imports only the Vector class from the java.util package.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FF"/>
                </a:solidFill>
              </a:rPr>
              <a:t>2. Import all classes from a package:</a:t>
            </a:r>
            <a:endParaRPr sz="1800">
              <a:solidFill>
                <a:srgbClr val="0000FF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import java.util.*;</a:t>
            </a:r>
            <a:endParaRPr sz="1800">
              <a:solidFill>
                <a:srgbClr val="FF0000"/>
              </a:solidFill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This imports all classes from the java.util package but does not include sub-packages.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Using import package.*; imports all classes in a package, but not classes from its sub-packages.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31168f88e3_0_42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n-US" sz="2300">
                <a:solidFill>
                  <a:srgbClr val="9900FF"/>
                </a:solidFill>
              </a:rPr>
              <a:t>Handling Name Conflicts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g331168f88e3_0_42"/>
          <p:cNvSpPr txBox="1"/>
          <p:nvPr/>
        </p:nvSpPr>
        <p:spPr>
          <a:xfrm>
            <a:off x="74700" y="538800"/>
            <a:ext cx="8938500" cy="61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When two packages have classes with the same name (</a:t>
            </a:r>
            <a:r>
              <a:rPr lang="en-US" sz="1800">
                <a:solidFill>
                  <a:schemeClr val="dk1"/>
                </a:solidFill>
              </a:rPr>
              <a:t>e.g., </a:t>
            </a:r>
            <a:r>
              <a:rPr lang="en-US" sz="1800">
                <a:solidFill>
                  <a:srgbClr val="FF0000"/>
                </a:solidFill>
              </a:rPr>
              <a:t>java.util.Date and java.sql.Date</a:t>
            </a:r>
            <a:r>
              <a:rPr lang="en-US" sz="1800">
                <a:solidFill>
                  <a:schemeClr val="dk1"/>
                </a:solidFill>
              </a:rPr>
              <a:t>), use the fully qualified name to avoid conflicts: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import java.util.*;</a:t>
            </a:r>
            <a:endParaRPr sz="1800">
              <a:solidFill>
                <a:srgbClr val="FF0000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import java.sql.*;</a:t>
            </a:r>
            <a:endParaRPr sz="1800">
              <a:solidFill>
                <a:srgbClr val="FF0000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FF"/>
                </a:solidFill>
              </a:rPr>
              <a:t>//And then use Date class, then we will get a compile-time error :</a:t>
            </a:r>
            <a:endParaRPr sz="1800">
              <a:solidFill>
                <a:srgbClr val="0000FF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Date today ; //ERROR– java.util.Date or java.sql.Date?</a:t>
            </a:r>
            <a:endParaRPr sz="1800">
              <a:solidFill>
                <a:srgbClr val="FF0000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The compiler will not be able to figure out which Date class do we want.</a:t>
            </a:r>
            <a:endParaRPr sz="1800"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This problem can be solved by using a specific import statement:</a:t>
            </a:r>
            <a:endParaRPr sz="1800"/>
          </a:p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import java.util.Date;</a:t>
            </a:r>
            <a:endParaRPr sz="1800">
              <a:solidFill>
                <a:srgbClr val="FF0000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import java.sql.*;</a:t>
            </a:r>
            <a:endParaRPr sz="1800">
              <a:solidFill>
                <a:srgbClr val="FF0000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If we need both Date classes then, we need to use a full package name every time we declare a new object of that class. For Example: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java.util.Date deadLine = new java.util.Date();</a:t>
            </a:r>
            <a:endParaRPr sz="1800">
              <a:solidFill>
                <a:srgbClr val="FF0000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java.sql.Date today = new java.sql.Date();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31168f88e3_0_3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n-US" sz="2300">
                <a:solidFill>
                  <a:srgbClr val="9900FF"/>
                </a:solidFill>
              </a:rPr>
              <a:t>2. User-defined Packages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g331168f88e3_0_3"/>
          <p:cNvSpPr txBox="1"/>
          <p:nvPr/>
        </p:nvSpPr>
        <p:spPr>
          <a:xfrm>
            <a:off x="74700" y="538800"/>
            <a:ext cx="8938500" cy="15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lang="en-US" sz="1700">
                <a:solidFill>
                  <a:schemeClr val="dk1"/>
                </a:solidFill>
              </a:rPr>
              <a:t>These are the packages that are defined by the user.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FF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First we create a directory </a:t>
            </a:r>
            <a:r>
              <a:rPr lang="en-US" sz="1700">
                <a:solidFill>
                  <a:srgbClr val="0000FF"/>
                </a:solidFill>
              </a:rPr>
              <a:t>myPackage </a:t>
            </a:r>
            <a:r>
              <a:rPr lang="en-US" sz="1700">
                <a:solidFill>
                  <a:schemeClr val="dk1"/>
                </a:solidFill>
              </a:rPr>
              <a:t>(name should be same as the name of the package)</a:t>
            </a:r>
            <a:r>
              <a:rPr lang="en-US" sz="1700">
                <a:solidFill>
                  <a:srgbClr val="0000FF"/>
                </a:solidFill>
              </a:rPr>
              <a:t>. </a:t>
            </a:r>
            <a:r>
              <a:rPr lang="en-US" sz="1700">
                <a:solidFill>
                  <a:schemeClr val="dk1"/>
                </a:solidFill>
              </a:rPr>
              <a:t>Then create the </a:t>
            </a:r>
            <a:r>
              <a:rPr lang="en-US" sz="1700">
                <a:solidFill>
                  <a:srgbClr val="0000FF"/>
                </a:solidFill>
              </a:rPr>
              <a:t>MyClass </a:t>
            </a:r>
            <a:r>
              <a:rPr lang="en-US" sz="1700">
                <a:solidFill>
                  <a:schemeClr val="dk1"/>
                </a:solidFill>
              </a:rPr>
              <a:t>inside the directory with the first statement being the package names.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16" name="Google Shape;116;g331168f88e3_0_3"/>
          <p:cNvSpPr txBox="1"/>
          <p:nvPr/>
        </p:nvSpPr>
        <p:spPr>
          <a:xfrm>
            <a:off x="350600" y="1973400"/>
            <a:ext cx="3541500" cy="3386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FF0000"/>
                </a:solidFill>
              </a:rPr>
              <a:t>package myPackage;</a:t>
            </a:r>
            <a:endParaRPr sz="1600">
              <a:solidFill>
                <a:srgbClr val="FF0000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FF0000"/>
                </a:solidFill>
              </a:rPr>
              <a:t>public class MyClass</a:t>
            </a:r>
            <a:endParaRPr sz="1600">
              <a:solidFill>
                <a:srgbClr val="FF0000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FF0000"/>
                </a:solidFill>
              </a:rPr>
              <a:t>{</a:t>
            </a:r>
            <a:endParaRPr sz="1600">
              <a:solidFill>
                <a:srgbClr val="FF0000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FF0000"/>
                </a:solidFill>
              </a:rPr>
              <a:t>    public void getNames(String s)</a:t>
            </a:r>
            <a:endParaRPr sz="1600">
              <a:solidFill>
                <a:srgbClr val="FF0000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FF0000"/>
                </a:solidFill>
              </a:rPr>
              <a:t>    {        </a:t>
            </a:r>
            <a:endParaRPr sz="1600">
              <a:solidFill>
                <a:srgbClr val="FF0000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FF0000"/>
                </a:solidFill>
              </a:rPr>
              <a:t>        System.out.println(s);        </a:t>
            </a:r>
            <a:endParaRPr sz="1600">
              <a:solidFill>
                <a:srgbClr val="FF0000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FF0000"/>
                </a:solidFill>
              </a:rPr>
              <a:t>    }</a:t>
            </a:r>
            <a:endParaRPr sz="1600">
              <a:solidFill>
                <a:srgbClr val="FF0000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FF0000"/>
                </a:solidFill>
              </a:rPr>
              <a:t>}</a:t>
            </a:r>
            <a:endParaRPr sz="1600">
              <a:solidFill>
                <a:srgbClr val="FF0000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g331168f88e3_0_3"/>
          <p:cNvSpPr txBox="1"/>
          <p:nvPr/>
        </p:nvSpPr>
        <p:spPr>
          <a:xfrm>
            <a:off x="4202050" y="1973400"/>
            <a:ext cx="4848000" cy="4863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FF0000"/>
                </a:solidFill>
              </a:rPr>
              <a:t>// import 'MyClass' class from 'names' myPackage </a:t>
            </a:r>
            <a:endParaRPr sz="1600">
              <a:solidFill>
                <a:srgbClr val="FF0000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FF0000"/>
                </a:solidFill>
              </a:rPr>
              <a:t>import myPackage.MyClass;</a:t>
            </a:r>
            <a:endParaRPr sz="1600">
              <a:solidFill>
                <a:srgbClr val="FF0000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FF0000"/>
                </a:solidFill>
              </a:rPr>
              <a:t>public class Geeks {</a:t>
            </a:r>
            <a:endParaRPr sz="1600">
              <a:solidFill>
                <a:srgbClr val="FF0000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FF0000"/>
                </a:solidFill>
              </a:rPr>
              <a:t>   public static void main(String args[]) {  </a:t>
            </a:r>
            <a:endParaRPr sz="1600">
              <a:solidFill>
                <a:srgbClr val="FF0000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FF0000"/>
                </a:solidFill>
              </a:rPr>
              <a:t>      // Initializing the String variable </a:t>
            </a:r>
            <a:endParaRPr sz="1600">
              <a:solidFill>
                <a:srgbClr val="FF0000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FF0000"/>
                </a:solidFill>
              </a:rPr>
              <a:t>      // with a value </a:t>
            </a:r>
            <a:endParaRPr sz="1600">
              <a:solidFill>
                <a:srgbClr val="FF0000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FF0000"/>
                </a:solidFill>
              </a:rPr>
              <a:t>      String s = "GeeksforGeeks";</a:t>
            </a:r>
            <a:endParaRPr sz="1600">
              <a:solidFill>
                <a:srgbClr val="FF0000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FF0000"/>
                </a:solidFill>
              </a:rPr>
              <a:t>      // Creating an instance of class MyClass in </a:t>
            </a:r>
            <a:endParaRPr sz="1600">
              <a:solidFill>
                <a:srgbClr val="FF0000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FF0000"/>
                </a:solidFill>
              </a:rPr>
              <a:t>      // the package.</a:t>
            </a:r>
            <a:endParaRPr sz="1600">
              <a:solidFill>
                <a:srgbClr val="FF0000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FF0000"/>
                </a:solidFill>
              </a:rPr>
              <a:t>      MyClass o = new MyClass();</a:t>
            </a:r>
            <a:endParaRPr sz="1600">
              <a:solidFill>
                <a:srgbClr val="FF0000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FF0000"/>
                </a:solidFill>
              </a:rPr>
              <a:t>      o.getNames(s);</a:t>
            </a:r>
            <a:endParaRPr sz="1600">
              <a:solidFill>
                <a:srgbClr val="FF0000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FF0000"/>
                </a:solidFill>
              </a:rPr>
              <a:t>   }</a:t>
            </a:r>
            <a:endParaRPr sz="1600">
              <a:solidFill>
                <a:srgbClr val="FF0000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FF0000"/>
                </a:solidFill>
              </a:rPr>
              <a:t>}</a:t>
            </a:r>
            <a:endParaRPr sz="16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31168f88e3_0_48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n-US" sz="2300">
                <a:solidFill>
                  <a:srgbClr val="9900FF"/>
                </a:solidFill>
              </a:rPr>
              <a:t>Java Static Import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g331168f88e3_0_48"/>
          <p:cNvSpPr txBox="1"/>
          <p:nvPr/>
        </p:nvSpPr>
        <p:spPr>
          <a:xfrm>
            <a:off x="74700" y="538800"/>
            <a:ext cx="8938500" cy="23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FF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To access any static member of a class directly. There is no need to qualify it by the class name.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FF"/>
                </a:solidFill>
              </a:rPr>
              <a:t>Advantage :</a:t>
            </a:r>
            <a:r>
              <a:rPr lang="en-US" sz="1800">
                <a:solidFill>
                  <a:schemeClr val="dk1"/>
                </a:solidFill>
              </a:rPr>
              <a:t> Less coding is required if you have access any static member of a class oftenly.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FF"/>
                </a:solidFill>
              </a:rPr>
              <a:t>Disadvantage:</a:t>
            </a:r>
            <a:r>
              <a:rPr lang="en-US" sz="1800">
                <a:solidFill>
                  <a:schemeClr val="dk1"/>
                </a:solidFill>
              </a:rPr>
              <a:t> If you overuse the static import feature, it makes the program unreadable and unmaintainable.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24" name="Google Shape;124;g331168f88e3_0_48"/>
          <p:cNvSpPr txBox="1"/>
          <p:nvPr/>
        </p:nvSpPr>
        <p:spPr>
          <a:xfrm>
            <a:off x="1775675" y="2974250"/>
            <a:ext cx="7105800" cy="3786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import static java.lang.System.*;    </a:t>
            </a:r>
            <a:endParaRPr sz="1800">
              <a:solidFill>
                <a:srgbClr val="FF0000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class StaticImportExample</a:t>
            </a:r>
            <a:endParaRPr sz="1800">
              <a:solidFill>
                <a:srgbClr val="FF0000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{  </a:t>
            </a:r>
            <a:endParaRPr sz="1800">
              <a:solidFill>
                <a:srgbClr val="FF0000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  public static void main(String args[])</a:t>
            </a:r>
            <a:endParaRPr sz="1800">
              <a:solidFill>
                <a:srgbClr val="FF0000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{  </a:t>
            </a:r>
            <a:endParaRPr sz="1800">
              <a:solidFill>
                <a:srgbClr val="FF0000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  	out.println("Hello");//Now no need of System.out  </a:t>
            </a:r>
            <a:endParaRPr sz="1800">
              <a:solidFill>
                <a:srgbClr val="FF0000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  	out.println("Java");  </a:t>
            </a:r>
            <a:endParaRPr sz="1800">
              <a:solidFill>
                <a:srgbClr val="FF0000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   }   </a:t>
            </a:r>
            <a:endParaRPr sz="1800">
              <a:solidFill>
                <a:srgbClr val="FF0000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}     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