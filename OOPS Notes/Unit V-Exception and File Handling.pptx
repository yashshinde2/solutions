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8" roundtripDataSignature="AMtx7miBdhIZX/RKNagkvgJXgUjxuc+V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848B1C-07B9-4B01-89A9-20506C1756D9}">
  <a:tblStyle styleId="{B2848B1C-07B9-4B01-89A9-20506C1756D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slide" Target="slides/slide40.xml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customschemas.google.com/relationships/presentationmetadata" Target="metadata"/><Relationship Id="rId25" Type="http://schemas.openxmlformats.org/officeDocument/2006/relationships/slide" Target="slides/slide19.xml"/><Relationship Id="rId47" Type="http://schemas.openxmlformats.org/officeDocument/2006/relationships/slide" Target="slides/slide41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9af9282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39af92823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9af92823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39af928235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f41ac3c45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4f41ac3c45_0_2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f41ac3c45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g34f41ac3c45_0_2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f41ac3c45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4f41ac3c45_0_2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f41ac3c45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4f41ac3c45_0_2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f41ac3c45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4f41ac3c45_0_2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f41ac3c45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4f41ac3c45_0_2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f41ac3c45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4f41ac3c45_0_2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39af92823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39af928235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f41ac3c45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4f41ac3c45_0_3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f41ac3c45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4f41ac3c45_0_3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4f41ac3c45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4f41ac3c45_0_3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4f41ac3c45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4f41ac3c45_0_2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f41ac3c45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4f41ac3c45_0_2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f41ac3c45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g34f41ac3c45_0_2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4f41ac3c45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g34f41ac3c45_0_3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4f41ac3c45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g34f41ac3c45_0_2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4f41ac3c45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34f41ac3c45_0_3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4f41ac3c45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g34f41ac3c45_0_3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4e130898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g34e1308986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4e1308986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g34e1308986f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4e1308986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g34e1308986f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4e1308986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g34e1308986f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4f41ac3c45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g34f41ac3c45_0_3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4e1308986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g34e1308986f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4e1308986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g34e1308986f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4e1308986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g34e1308986f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4e1308986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g34e1308986f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515f07bb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g3515f07bb1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15f07bb1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g3515f07bb1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515f07bb1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g3515f07bb19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515f07bb1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g3515f07bb19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15f07bb1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8" name="Google Shape;318;g3515f07bb19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515f07bb1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g3515f07bb19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515f07bb1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1" name="Google Shape;331;g3515f07bb19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515f07bb1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g3515f07bb19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515f07bb1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3" name="Google Shape;343;g3515f07bb19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515f07bb1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9" name="Google Shape;349;g3515f07bb19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515f07bb1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g3515f07bb19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515f07bb1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1" name="Google Shape;361;g3515f07bb19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7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7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7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7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7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9af928235_0_0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Exception Handling</a:t>
            </a: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39af928235_0_0"/>
          <p:cNvSpPr txBox="1"/>
          <p:nvPr/>
        </p:nvSpPr>
        <p:spPr>
          <a:xfrm>
            <a:off x="74700" y="538800"/>
            <a:ext cx="8938500" cy="44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An Exception is an </a:t>
            </a:r>
            <a:r>
              <a:rPr lang="en-US" sz="1800">
                <a:solidFill>
                  <a:srgbClr val="0000FF"/>
                </a:solidFill>
              </a:rPr>
              <a:t>unwanted or unexpected event</a:t>
            </a:r>
            <a:r>
              <a:rPr lang="en-US" sz="1800">
                <a:solidFill>
                  <a:schemeClr val="dk1"/>
                </a:solidFill>
              </a:rPr>
              <a:t> that occurs during the execution of a program (i.e., at runtime) and </a:t>
            </a:r>
            <a:r>
              <a:rPr lang="en-US" sz="1800">
                <a:solidFill>
                  <a:srgbClr val="0000FF"/>
                </a:solidFill>
              </a:rPr>
              <a:t>disrupts the normal flow of the program’s </a:t>
            </a:r>
            <a:r>
              <a:rPr lang="en-US" sz="1800">
                <a:solidFill>
                  <a:schemeClr val="dk1"/>
                </a:solidFill>
              </a:rPr>
              <a:t>instructions.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It occurs when something unexpected happens, like accessing an </a:t>
            </a:r>
            <a:r>
              <a:rPr lang="en-US" sz="1800">
                <a:solidFill>
                  <a:srgbClr val="FF0000"/>
                </a:solidFill>
              </a:rPr>
              <a:t>invalid index</a:t>
            </a:r>
            <a:r>
              <a:rPr lang="en-US" sz="1800">
                <a:solidFill>
                  <a:schemeClr val="dk1"/>
                </a:solidFill>
              </a:rPr>
              <a:t>, </a:t>
            </a:r>
            <a:r>
              <a:rPr lang="en-US" sz="1800">
                <a:solidFill>
                  <a:srgbClr val="FF0000"/>
                </a:solidFill>
              </a:rPr>
              <a:t>dividing by zero</a:t>
            </a:r>
            <a:r>
              <a:rPr lang="en-US" sz="1800">
                <a:solidFill>
                  <a:schemeClr val="dk1"/>
                </a:solidFill>
              </a:rPr>
              <a:t>, or trying to</a:t>
            </a:r>
            <a:r>
              <a:rPr lang="en-US" sz="1800">
                <a:solidFill>
                  <a:srgbClr val="FF0000"/>
                </a:solidFill>
              </a:rPr>
              <a:t> open a file that does not exist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Exception in Java is an </a:t>
            </a:r>
            <a:r>
              <a:rPr lang="en-US" sz="1800">
                <a:solidFill>
                  <a:srgbClr val="0000FF"/>
                </a:solidFill>
              </a:rPr>
              <a:t>error condition </a:t>
            </a:r>
            <a:r>
              <a:rPr lang="en-US" sz="1800">
                <a:solidFill>
                  <a:schemeClr val="dk1"/>
                </a:solidFill>
              </a:rPr>
              <a:t>that occurs when something wrong happens during the program execution.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Manage runtime errors by using mechanisms like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○"/>
            </a:pPr>
            <a:r>
              <a:rPr lang="en-US" sz="1800">
                <a:solidFill>
                  <a:srgbClr val="0000FF"/>
                </a:solidFill>
              </a:rPr>
              <a:t>try-catch block, </a:t>
            </a:r>
            <a:endParaRPr sz="1800">
              <a:solidFill>
                <a:srgbClr val="0000FF"/>
              </a:solidFill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○"/>
            </a:pPr>
            <a:r>
              <a:rPr lang="en-US" sz="1800">
                <a:solidFill>
                  <a:srgbClr val="0000FF"/>
                </a:solidFill>
              </a:rPr>
              <a:t>finally block, </a:t>
            </a:r>
            <a:endParaRPr sz="1800">
              <a:solidFill>
                <a:srgbClr val="0000FF"/>
              </a:solidFill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○"/>
            </a:pPr>
            <a:r>
              <a:rPr lang="en-US" sz="1800">
                <a:solidFill>
                  <a:srgbClr val="0000FF"/>
                </a:solidFill>
              </a:rPr>
              <a:t>throwing Exceptions (throw and throws keyword), </a:t>
            </a:r>
            <a:endParaRPr sz="1800">
              <a:solidFill>
                <a:srgbClr val="0000FF"/>
              </a:solidFill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○"/>
            </a:pPr>
            <a:r>
              <a:rPr lang="en-US" sz="1800">
                <a:solidFill>
                  <a:srgbClr val="0000FF"/>
                </a:solidFill>
              </a:rPr>
              <a:t>Custom Exception handling, etc.</a:t>
            </a:r>
            <a:endParaRPr sz="1800">
              <a:solidFill>
                <a:srgbClr val="0000FF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9af928235_0_9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Advantage of Exception Handling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39af928235_0_9"/>
          <p:cNvSpPr txBox="1"/>
          <p:nvPr/>
        </p:nvSpPr>
        <p:spPr>
          <a:xfrm>
            <a:off x="74700" y="538800"/>
            <a:ext cx="8938500" cy="44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-US" sz="1800">
                <a:solidFill>
                  <a:srgbClr val="0000FF"/>
                </a:solidFill>
              </a:rPr>
              <a:t>to maintain the normal flow of the application.</a:t>
            </a:r>
            <a:endParaRPr sz="1800">
              <a:solidFill>
                <a:srgbClr val="0000FF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0000FF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	statement 1;  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	statement 2;  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	statement 3;  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	statement 4;  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	</a:t>
            </a:r>
            <a:r>
              <a:rPr lang="en-US" sz="1800">
                <a:solidFill>
                  <a:srgbClr val="FF0000"/>
                </a:solidFill>
              </a:rPr>
              <a:t>statement 5;//exception occurs  </a:t>
            </a:r>
            <a:endParaRPr sz="1800">
              <a:solidFill>
                <a:srgbClr val="FF0000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statement 6;  </a:t>
            </a:r>
            <a:endParaRPr sz="1800">
              <a:solidFill>
                <a:srgbClr val="FF0000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statement 7;  </a:t>
            </a:r>
            <a:endParaRPr sz="1800">
              <a:solidFill>
                <a:srgbClr val="FF0000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statement 8;  </a:t>
            </a:r>
            <a:endParaRPr sz="1800">
              <a:solidFill>
                <a:srgbClr val="FF0000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statement 9;  </a:t>
            </a:r>
            <a:endParaRPr sz="1800">
              <a:solidFill>
                <a:srgbClr val="FF0000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statement 10; </a:t>
            </a:r>
            <a:endParaRPr sz="1800">
              <a:solidFill>
                <a:srgbClr val="FF0000"/>
              </a:solidFill>
            </a:endParaRPr>
          </a:p>
          <a:p>
            <a:pPr indent="-3429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f41ac3c45_0_211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Hierarchy of Java Exception classes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g34f41ac3c45_0_2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1575" y="559150"/>
            <a:ext cx="6187075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f41ac3c45_0_218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Types of Java Exceptions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g34f41ac3c45_0_2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9225" y="793450"/>
            <a:ext cx="4414350" cy="39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f41ac3c45_0_225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Checked Exceptions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4f41ac3c45_0_225"/>
          <p:cNvSpPr txBox="1"/>
          <p:nvPr/>
        </p:nvSpPr>
        <p:spPr>
          <a:xfrm>
            <a:off x="74700" y="538800"/>
            <a:ext cx="8938500" cy="47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Exceptions that are </a:t>
            </a:r>
            <a:r>
              <a:rPr lang="en-US" sz="1800">
                <a:solidFill>
                  <a:srgbClr val="0000FF"/>
                </a:solidFill>
              </a:rPr>
              <a:t>checked at compile-time. </a:t>
            </a:r>
            <a:endParaRPr sz="1800">
              <a:solidFill>
                <a:srgbClr val="0000FF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The </a:t>
            </a:r>
            <a:r>
              <a:rPr lang="en-US" sz="1800">
                <a:solidFill>
                  <a:srgbClr val="0000FF"/>
                </a:solidFill>
              </a:rPr>
              <a:t>compiler verifies that the code handles these exceptions</a:t>
            </a:r>
            <a:r>
              <a:rPr lang="en-US" sz="1800">
                <a:solidFill>
                  <a:schemeClr val="dk1"/>
                </a:solidFill>
              </a:rPr>
              <a:t> either by </a:t>
            </a:r>
            <a:r>
              <a:rPr lang="en-US" sz="1800">
                <a:solidFill>
                  <a:srgbClr val="0000FF"/>
                </a:solidFill>
              </a:rPr>
              <a:t>catching them</a:t>
            </a:r>
            <a:r>
              <a:rPr lang="en-US" sz="1800">
                <a:solidFill>
                  <a:schemeClr val="dk1"/>
                </a:solidFill>
              </a:rPr>
              <a:t> or </a:t>
            </a:r>
            <a:r>
              <a:rPr lang="en-US" sz="1800">
                <a:solidFill>
                  <a:srgbClr val="0000FF"/>
                </a:solidFill>
              </a:rPr>
              <a:t>declaring them i</a:t>
            </a:r>
            <a:r>
              <a:rPr lang="en-US" sz="1800">
                <a:solidFill>
                  <a:schemeClr val="dk1"/>
                </a:solidFill>
              </a:rPr>
              <a:t>n the </a:t>
            </a:r>
            <a:r>
              <a:rPr lang="en-US" sz="1800">
                <a:solidFill>
                  <a:srgbClr val="0000FF"/>
                </a:solidFill>
              </a:rPr>
              <a:t>method signature using the throws keyword.</a:t>
            </a:r>
            <a:endParaRPr sz="1800">
              <a:solidFill>
                <a:srgbClr val="0000FF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Examples</a:t>
            </a:r>
            <a:r>
              <a:rPr lang="en-US" sz="1800">
                <a:solidFill>
                  <a:schemeClr val="dk1"/>
                </a:solidFill>
              </a:rPr>
              <a:t> of checked exceptions include: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rgbClr val="FF0000"/>
                </a:solidFill>
              </a:rPr>
              <a:t>IOException:</a:t>
            </a:r>
            <a:r>
              <a:rPr lang="en-US" sz="1800">
                <a:solidFill>
                  <a:schemeClr val="dk1"/>
                </a:solidFill>
              </a:rPr>
              <a:t> An exception is thrown when an input/output operation fails, such as when reading from or writing to a file.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rgbClr val="FF0000"/>
                </a:solidFill>
              </a:rPr>
              <a:t>SQLException:</a:t>
            </a:r>
            <a:r>
              <a:rPr lang="en-US" sz="1800">
                <a:solidFill>
                  <a:schemeClr val="dk1"/>
                </a:solidFill>
              </a:rPr>
              <a:t> It is thrown when an error occurs while accessing a database.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rgbClr val="FF0000"/>
                </a:solidFill>
              </a:rPr>
              <a:t>ParseException:</a:t>
            </a:r>
            <a:r>
              <a:rPr lang="en-US" sz="1800">
                <a:solidFill>
                  <a:schemeClr val="dk1"/>
                </a:solidFill>
              </a:rPr>
              <a:t> Indicates a problem while parsing a string into another data type, such as parsing a date.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rgbClr val="FF0000"/>
                </a:solidFill>
              </a:rPr>
              <a:t>ClassNotFoundException: </a:t>
            </a:r>
            <a:r>
              <a:rPr lang="en-US" sz="1800">
                <a:solidFill>
                  <a:schemeClr val="dk1"/>
                </a:solidFill>
              </a:rPr>
              <a:t>It is thrown when an application tries to load a class through its string name using methods like Class.forName(), but the class with the specified name cannot be found in the classpath.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f41ac3c45_0_232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Unchecked Exceptions (Runtime Exceptions)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4f41ac3c45_0_232"/>
          <p:cNvSpPr txBox="1"/>
          <p:nvPr/>
        </p:nvSpPr>
        <p:spPr>
          <a:xfrm>
            <a:off x="74700" y="538800"/>
            <a:ext cx="8938500" cy="50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Usually occur </a:t>
            </a:r>
            <a:r>
              <a:rPr lang="en-US" sz="1800">
                <a:solidFill>
                  <a:srgbClr val="0000FF"/>
                </a:solidFill>
              </a:rPr>
              <a:t>due to programming errors</a:t>
            </a:r>
            <a:r>
              <a:rPr lang="en-US" sz="1800">
                <a:solidFill>
                  <a:schemeClr val="dk1"/>
                </a:solidFill>
              </a:rPr>
              <a:t>, such as logic errors or incorrect assumptions in the code.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They do </a:t>
            </a:r>
            <a:r>
              <a:rPr lang="en-US" sz="1800">
                <a:solidFill>
                  <a:srgbClr val="0000FF"/>
                </a:solidFill>
              </a:rPr>
              <a:t>not need to be declared in the method signature using the throws </a:t>
            </a:r>
            <a:r>
              <a:rPr lang="en-US" sz="1800">
                <a:solidFill>
                  <a:schemeClr val="dk1"/>
                </a:solidFill>
              </a:rPr>
              <a:t>keyword, making it optional to handle them. 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Examples</a:t>
            </a:r>
            <a:r>
              <a:rPr lang="en-US" sz="1800">
                <a:solidFill>
                  <a:schemeClr val="dk1"/>
                </a:solidFill>
              </a:rPr>
              <a:t> of unchecked exceptions include: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rgbClr val="FF0000"/>
                </a:solidFill>
              </a:rPr>
              <a:t>NullPointerException: </a:t>
            </a:r>
            <a:r>
              <a:rPr lang="en-US" sz="1800">
                <a:solidFill>
                  <a:schemeClr val="dk1"/>
                </a:solidFill>
              </a:rPr>
              <a:t>It is thrown when trying to access or call a method on an object reference that is null.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rgbClr val="FF0000"/>
                </a:solidFill>
              </a:rPr>
              <a:t>ArrayIndexOutOfBoundsException:</a:t>
            </a:r>
            <a:r>
              <a:rPr lang="en-US" sz="1800">
                <a:solidFill>
                  <a:schemeClr val="dk1"/>
                </a:solidFill>
              </a:rPr>
              <a:t> It occurs when we try to access an array element with an invalid index.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rgbClr val="FF0000"/>
                </a:solidFill>
              </a:rPr>
              <a:t>ArithmeticException:</a:t>
            </a:r>
            <a:r>
              <a:rPr lang="en-US" sz="1800">
                <a:solidFill>
                  <a:schemeClr val="dk1"/>
                </a:solidFill>
              </a:rPr>
              <a:t> It is thrown when an arithmetic operation fails, such as division by zero.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rgbClr val="FF0000"/>
                </a:solidFill>
              </a:rPr>
              <a:t>IllegalArgumentException:</a:t>
            </a:r>
            <a:r>
              <a:rPr lang="en-US" sz="1800">
                <a:solidFill>
                  <a:schemeClr val="dk1"/>
                </a:solidFill>
              </a:rPr>
              <a:t> It indicates that a method has been passed an illegal or inappropriate argument.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f41ac3c45_0_239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Errors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4f41ac3c45_0_239"/>
          <p:cNvSpPr txBox="1"/>
          <p:nvPr/>
        </p:nvSpPr>
        <p:spPr>
          <a:xfrm>
            <a:off x="74700" y="538800"/>
            <a:ext cx="8938500" cy="47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Exceptional </a:t>
            </a:r>
            <a:r>
              <a:rPr lang="en-US" sz="1800">
                <a:solidFill>
                  <a:srgbClr val="0000FF"/>
                </a:solidFill>
              </a:rPr>
              <a:t>conditions that are not expected to be caught </a:t>
            </a:r>
            <a:r>
              <a:rPr lang="en-US" sz="1800">
                <a:solidFill>
                  <a:schemeClr val="dk1"/>
                </a:solidFill>
              </a:rPr>
              <a:t>under normal circumstances.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They are typically </a:t>
            </a:r>
            <a:r>
              <a:rPr lang="en-US" sz="1800">
                <a:solidFill>
                  <a:srgbClr val="0000FF"/>
                </a:solidFill>
              </a:rPr>
              <a:t>caused by issues outside the control of the application,</a:t>
            </a:r>
            <a:r>
              <a:rPr lang="en-US" sz="1800">
                <a:solidFill>
                  <a:schemeClr val="dk1"/>
                </a:solidFill>
              </a:rPr>
              <a:t> such as </a:t>
            </a:r>
            <a:r>
              <a:rPr lang="en-US" sz="1800">
                <a:solidFill>
                  <a:srgbClr val="FF0000"/>
                </a:solidFill>
              </a:rPr>
              <a:t>system failures</a:t>
            </a:r>
            <a:r>
              <a:rPr lang="en-US" sz="1800">
                <a:solidFill>
                  <a:schemeClr val="dk1"/>
                </a:solidFill>
              </a:rPr>
              <a:t> or </a:t>
            </a:r>
            <a:r>
              <a:rPr lang="en-US" sz="1800">
                <a:solidFill>
                  <a:srgbClr val="FF0000"/>
                </a:solidFill>
              </a:rPr>
              <a:t>resource exhaustion</a:t>
            </a:r>
            <a:r>
              <a:rPr lang="en-US" sz="1800">
                <a:solidFill>
                  <a:schemeClr val="dk1"/>
                </a:solidFill>
              </a:rPr>
              <a:t>.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Errors are </a:t>
            </a:r>
            <a:r>
              <a:rPr lang="en-US" sz="1800">
                <a:solidFill>
                  <a:srgbClr val="0000FF"/>
                </a:solidFill>
              </a:rPr>
              <a:t>not meant to be caught</a:t>
            </a:r>
            <a:r>
              <a:rPr lang="en-US" sz="1800">
                <a:solidFill>
                  <a:schemeClr val="dk1"/>
                </a:solidFill>
              </a:rPr>
              <a:t> or </a:t>
            </a:r>
            <a:r>
              <a:rPr lang="en-US" sz="1800">
                <a:solidFill>
                  <a:srgbClr val="0000FF"/>
                </a:solidFill>
              </a:rPr>
              <a:t>handled</a:t>
            </a:r>
            <a:r>
              <a:rPr lang="en-US" sz="1800">
                <a:solidFill>
                  <a:schemeClr val="dk1"/>
                </a:solidFill>
              </a:rPr>
              <a:t> by application code. 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Examples </a:t>
            </a:r>
            <a:r>
              <a:rPr lang="en-US" sz="1800">
                <a:solidFill>
                  <a:schemeClr val="dk1"/>
                </a:solidFill>
              </a:rPr>
              <a:t>of errors include: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rgbClr val="FF0000"/>
                </a:solidFill>
              </a:rPr>
              <a:t>OutOfMemoryError: </a:t>
            </a:r>
            <a:r>
              <a:rPr lang="en-US" sz="1800">
                <a:solidFill>
                  <a:schemeClr val="dk1"/>
                </a:solidFill>
              </a:rPr>
              <a:t>It occurs when the Java Virtual Machine (JVM) cannot allocate enough memory for the application.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rgbClr val="FF0000"/>
                </a:solidFill>
              </a:rPr>
              <a:t>StackOverflowError:</a:t>
            </a:r>
            <a:r>
              <a:rPr lang="en-US" sz="1800">
                <a:solidFill>
                  <a:schemeClr val="dk1"/>
                </a:solidFill>
              </a:rPr>
              <a:t> It is thrown when the stack memory is exhausted due to excessive recursion.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rgbClr val="FF0000"/>
                </a:solidFill>
              </a:rPr>
              <a:t>NoClassDefFoundError:</a:t>
            </a:r>
            <a:r>
              <a:rPr lang="en-US" sz="1800">
                <a:solidFill>
                  <a:schemeClr val="dk1"/>
                </a:solidFill>
              </a:rPr>
              <a:t> It indicates that the JVM cannot find the definition of a class that was available at compile-time.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f41ac3c45_0_246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Java Exception Keywords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7" name="Google Shape;127;g34f41ac3c45_0_246"/>
          <p:cNvGraphicFramePr/>
          <p:nvPr/>
        </p:nvGraphicFramePr>
        <p:xfrm>
          <a:off x="112975" y="85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{B2848B1C-07B9-4B01-89A9-20506C1756D9}</a:tableStyleId>
              </a:tblPr>
              <a:tblGrid>
                <a:gridCol w="1096125"/>
                <a:gridCol w="7783800"/>
              </a:tblGrid>
              <a:tr h="550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0000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Keyword</a:t>
                      </a:r>
                      <a:endParaRPr b="1" sz="1700">
                        <a:solidFill>
                          <a:srgbClr val="0000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0000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Description</a:t>
                      </a:r>
                      <a:endParaRPr b="1" sz="1700">
                        <a:solidFill>
                          <a:srgbClr val="0000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7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00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try</a:t>
                      </a:r>
                      <a:endParaRPr sz="2000">
                        <a:solidFill>
                          <a:srgbClr val="0000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The "try" keyword is used to </a:t>
                      </a:r>
                      <a:r>
                        <a:rPr lang="en-US" sz="2000">
                          <a:solidFill>
                            <a:srgbClr val="0000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specify a block where we should place an exception code. </a:t>
                      </a:r>
                      <a:r>
                        <a:rPr lang="en-US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It means we can't use try block alone. The try block must be followed by either catch or finally.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7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00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catch</a:t>
                      </a:r>
                      <a:endParaRPr sz="2000">
                        <a:solidFill>
                          <a:srgbClr val="0000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The "catch" block is used to </a:t>
                      </a:r>
                      <a:r>
                        <a:rPr lang="en-US" sz="2000">
                          <a:solidFill>
                            <a:srgbClr val="0000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handle the exception. </a:t>
                      </a:r>
                      <a:r>
                        <a:rPr lang="en-US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It must be preceded by try block which means we can't use catch block alone. It can be followed by finally block later.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7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00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finally</a:t>
                      </a:r>
                      <a:endParaRPr sz="2000">
                        <a:solidFill>
                          <a:srgbClr val="0000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The "finally" block is used to </a:t>
                      </a:r>
                      <a:r>
                        <a:rPr lang="en-US" sz="2000">
                          <a:solidFill>
                            <a:srgbClr val="0000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execute the necessary code of the program.</a:t>
                      </a:r>
                      <a:r>
                        <a:rPr lang="en-US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It is executed whether an exception is handled or not.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00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throw</a:t>
                      </a:r>
                      <a:endParaRPr sz="2000">
                        <a:solidFill>
                          <a:srgbClr val="0000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The "throw" keyword is used to</a:t>
                      </a:r>
                      <a:r>
                        <a:rPr lang="en-US" sz="2000">
                          <a:solidFill>
                            <a:srgbClr val="0000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throw an exception.</a:t>
                      </a:r>
                      <a:endParaRPr sz="2000">
                        <a:solidFill>
                          <a:srgbClr val="0000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7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00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throws</a:t>
                      </a:r>
                      <a:endParaRPr sz="2000">
                        <a:solidFill>
                          <a:srgbClr val="0000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The "throws" keyword is used to</a:t>
                      </a:r>
                      <a:r>
                        <a:rPr lang="en-US" sz="2000">
                          <a:solidFill>
                            <a:srgbClr val="0000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declare exceptions. </a:t>
                      </a:r>
                      <a:r>
                        <a:rPr lang="en-US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It specifies that there may occur an exception in the method. It doesn't throw an exception. It is always used with method signature.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4f41ac3c45_0_255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Exception Handling Methods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4f41ac3c45_0_255"/>
          <p:cNvSpPr txBox="1"/>
          <p:nvPr/>
        </p:nvSpPr>
        <p:spPr>
          <a:xfrm>
            <a:off x="74700" y="538800"/>
            <a:ext cx="89385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200"/>
              <a:buChar char="●"/>
            </a:pPr>
            <a:r>
              <a:rPr lang="en-US" sz="2200">
                <a:solidFill>
                  <a:srgbClr val="0000FF"/>
                </a:solidFill>
              </a:rPr>
              <a:t>try-catch block,</a:t>
            </a:r>
            <a:endParaRPr sz="2200">
              <a:solidFill>
                <a:srgbClr val="0000FF"/>
              </a:solidFill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200"/>
              <a:buChar char="●"/>
            </a:pPr>
            <a:r>
              <a:rPr lang="en-US" sz="2200">
                <a:solidFill>
                  <a:srgbClr val="0000FF"/>
                </a:solidFill>
              </a:rPr>
              <a:t>finally block,</a:t>
            </a:r>
            <a:endParaRPr sz="2200">
              <a:solidFill>
                <a:srgbClr val="0000FF"/>
              </a:solidFill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200"/>
              <a:buChar char="●"/>
            </a:pPr>
            <a:r>
              <a:rPr lang="en-US" sz="2200">
                <a:solidFill>
                  <a:srgbClr val="0000FF"/>
                </a:solidFill>
              </a:rPr>
              <a:t>throwing Exceptions (throw and throws keyword),</a:t>
            </a:r>
            <a:endParaRPr sz="2200">
              <a:solidFill>
                <a:srgbClr val="0000FF"/>
              </a:solidFill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200"/>
              <a:buChar char="●"/>
            </a:pPr>
            <a:r>
              <a:rPr lang="en-US" sz="2200">
                <a:solidFill>
                  <a:srgbClr val="0000FF"/>
                </a:solidFill>
              </a:rPr>
              <a:t>Custom Exception handling, etc.</a:t>
            </a:r>
            <a:endParaRPr sz="2200">
              <a:solidFill>
                <a:srgbClr val="0000FF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9af928235_0_16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try-catch block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39af928235_0_16"/>
          <p:cNvSpPr txBox="1"/>
          <p:nvPr/>
        </p:nvSpPr>
        <p:spPr>
          <a:xfrm>
            <a:off x="74700" y="538800"/>
            <a:ext cx="893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39af928235_0_16"/>
          <p:cNvSpPr txBox="1"/>
          <p:nvPr/>
        </p:nvSpPr>
        <p:spPr>
          <a:xfrm>
            <a:off x="126500" y="1986350"/>
            <a:ext cx="4370100" cy="329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//handling single exception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try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	 // Code that may throw an exception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} catch (Exception e)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// Exception handling code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} </a:t>
            </a:r>
            <a:endParaRPr sz="18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41" name="Google Shape;141;g339af928235_0_16"/>
          <p:cNvSpPr txBox="1"/>
          <p:nvPr/>
        </p:nvSpPr>
        <p:spPr>
          <a:xfrm>
            <a:off x="4572000" y="1986350"/>
            <a:ext cx="4370100" cy="471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//handling multiple exception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try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	// Code that may throw an exception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} catch (IOException e)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	// Handle IOException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} catch (NumberFormatException e)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	// Handle NumberFormatException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} catch (Exception e)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	// Handle any other exceptions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}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42" name="Google Shape;142;g339af928235_0_16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3" name="Google Shape;143;g339af928235_0_16"/>
          <p:cNvSpPr txBox="1"/>
          <p:nvPr/>
        </p:nvSpPr>
        <p:spPr>
          <a:xfrm>
            <a:off x="205500" y="538800"/>
            <a:ext cx="8938500" cy="23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Used to</a:t>
            </a:r>
            <a:r>
              <a:rPr lang="en-US" sz="1800">
                <a:solidFill>
                  <a:srgbClr val="0000FF"/>
                </a:solidFill>
              </a:rPr>
              <a:t> enclose the code that might throw an exception.</a:t>
            </a:r>
            <a:endParaRPr sz="1800">
              <a:solidFill>
                <a:srgbClr val="0000FF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rgbClr val="FF0000"/>
                </a:solidFill>
              </a:rPr>
              <a:t>If an exception occurs </a:t>
            </a:r>
            <a:r>
              <a:rPr lang="en-US" sz="1800">
                <a:solidFill>
                  <a:schemeClr val="dk1"/>
                </a:solidFill>
              </a:rPr>
              <a:t>at the particular statement in the try block, </a:t>
            </a:r>
            <a:r>
              <a:rPr lang="en-US" sz="1800">
                <a:solidFill>
                  <a:srgbClr val="0000FF"/>
                </a:solidFill>
              </a:rPr>
              <a:t>the rest of the block code will not execute. </a:t>
            </a:r>
            <a:endParaRPr sz="1800">
              <a:solidFill>
                <a:srgbClr val="0000FF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rgbClr val="0000FF"/>
                </a:solidFill>
              </a:rPr>
              <a:t>Do Not</a:t>
            </a:r>
            <a:r>
              <a:rPr lang="en-US" sz="1800">
                <a:solidFill>
                  <a:srgbClr val="0000FF"/>
                </a:solidFill>
              </a:rPr>
              <a:t> keep</a:t>
            </a:r>
            <a:r>
              <a:rPr lang="en-US" sz="1800">
                <a:solidFill>
                  <a:schemeClr val="dk1"/>
                </a:solidFill>
              </a:rPr>
              <a:t> the </a:t>
            </a:r>
            <a:r>
              <a:rPr lang="en-US" sz="1800">
                <a:solidFill>
                  <a:srgbClr val="0000FF"/>
                </a:solidFill>
              </a:rPr>
              <a:t>code in try block</a:t>
            </a:r>
            <a:r>
              <a:rPr lang="en-US" sz="1800">
                <a:solidFill>
                  <a:schemeClr val="dk1"/>
                </a:solidFill>
              </a:rPr>
              <a:t> that </a:t>
            </a:r>
            <a:r>
              <a:rPr lang="en-US" sz="1800">
                <a:solidFill>
                  <a:srgbClr val="0000FF"/>
                </a:solidFill>
              </a:rPr>
              <a:t>will not throw an exception.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f41ac3c45_0_329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try-catch block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4f41ac3c45_0_329"/>
          <p:cNvSpPr txBox="1"/>
          <p:nvPr/>
        </p:nvSpPr>
        <p:spPr>
          <a:xfrm>
            <a:off x="74700" y="538800"/>
            <a:ext cx="893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4f41ac3c45_0_329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51" name="Google Shape;151;g34f41ac3c45_0_3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850" y="1000500"/>
            <a:ext cx="7676525" cy="491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4f41ac3c45_0_316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try-catch block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4f41ac3c45_0_316"/>
          <p:cNvSpPr txBox="1"/>
          <p:nvPr/>
        </p:nvSpPr>
        <p:spPr>
          <a:xfrm>
            <a:off x="74700" y="538800"/>
            <a:ext cx="893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4f41ac3c45_0_316"/>
          <p:cNvSpPr txBox="1"/>
          <p:nvPr/>
        </p:nvSpPr>
        <p:spPr>
          <a:xfrm>
            <a:off x="321575" y="939175"/>
            <a:ext cx="8620500" cy="2824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public class TryCatchExample1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public static void main(String[] args)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		 int data=50/0; //may throw exception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	System.out.println("rest of the code");  </a:t>
            </a:r>
            <a:endParaRPr sz="1800">
              <a:solidFill>
                <a:srgbClr val="FF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}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} 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59" name="Google Shape;159;g34f41ac3c45_0_316"/>
          <p:cNvSpPr txBox="1"/>
          <p:nvPr/>
        </p:nvSpPr>
        <p:spPr>
          <a:xfrm>
            <a:off x="321575" y="4065525"/>
            <a:ext cx="7994400" cy="934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Output:</a:t>
            </a:r>
            <a:endParaRPr sz="18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Exception in thread "main" java.lang.ArithmeticException: / by zero</a:t>
            </a:r>
            <a:endParaRPr/>
          </a:p>
        </p:txBody>
      </p:sp>
      <p:sp>
        <p:nvSpPr>
          <p:cNvPr id="160" name="Google Shape;160;g34f41ac3c45_0_316"/>
          <p:cNvSpPr txBox="1"/>
          <p:nvPr/>
        </p:nvSpPr>
        <p:spPr>
          <a:xfrm>
            <a:off x="1655725" y="426800"/>
            <a:ext cx="5684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US" sz="1700">
                <a:solidFill>
                  <a:srgbClr val="0000FF"/>
                </a:solidFill>
              </a:rPr>
              <a:t>Problem without Exception Handling</a:t>
            </a:r>
            <a:endParaRPr b="1" sz="17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f41ac3c45_0_345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try-catch block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4f41ac3c45_0_345"/>
          <p:cNvSpPr txBox="1"/>
          <p:nvPr/>
        </p:nvSpPr>
        <p:spPr>
          <a:xfrm>
            <a:off x="74700" y="538800"/>
            <a:ext cx="893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4f41ac3c45_0_345"/>
          <p:cNvSpPr txBox="1"/>
          <p:nvPr/>
        </p:nvSpPr>
        <p:spPr>
          <a:xfrm>
            <a:off x="261750" y="620900"/>
            <a:ext cx="8620500" cy="4771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	public class TryCatchExample2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	     	public static void main(String[] args)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		try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			int data=50/0; //may throw exception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			}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       	catch(ArithmeticException e)   	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 			System.out.println(e);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			}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	System.out.println("rest of the code");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	}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} 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68" name="Google Shape;168;g34f41ac3c45_0_345"/>
          <p:cNvSpPr txBox="1"/>
          <p:nvPr/>
        </p:nvSpPr>
        <p:spPr>
          <a:xfrm>
            <a:off x="218925" y="5474500"/>
            <a:ext cx="7994400" cy="140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Output: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java.lang.ArithmeticException: / by zero</a:t>
            </a:r>
            <a:endParaRPr sz="18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rest of the code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69" name="Google Shape;169;g34f41ac3c45_0_345"/>
          <p:cNvSpPr txBox="1"/>
          <p:nvPr/>
        </p:nvSpPr>
        <p:spPr>
          <a:xfrm>
            <a:off x="2651575" y="92400"/>
            <a:ext cx="5684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US" sz="1700">
                <a:solidFill>
                  <a:srgbClr val="0000FF"/>
                </a:solidFill>
              </a:rPr>
              <a:t>Solution by Exception Handling</a:t>
            </a:r>
            <a:endParaRPr b="1" sz="17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f41ac3c45_0_279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The try-catch Block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4f41ac3c45_0_279"/>
          <p:cNvSpPr txBox="1"/>
          <p:nvPr/>
        </p:nvSpPr>
        <p:spPr>
          <a:xfrm>
            <a:off x="74700" y="538800"/>
            <a:ext cx="893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4f41ac3c45_0_279"/>
          <p:cNvSpPr txBox="1"/>
          <p:nvPr/>
        </p:nvSpPr>
        <p:spPr>
          <a:xfrm>
            <a:off x="208175" y="538800"/>
            <a:ext cx="8682600" cy="610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</a:rPr>
              <a:t>//Java Program to illustrate the use of Arithmetic Exception in Java 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public class Main {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public static void main(String[] args) {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	int dividend = 10;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	int divisor = 0;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	try {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			int result = dividend / divisor; // Division by zero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			System.out.println("Result: " + result);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	    } catch (ArithmeticException e) {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			System.out.println("Error: Division by zero is not allowed.");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			// Additional error handling code can be added here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	}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}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}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4f41ac3c45_0_289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The try-catch Block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4f41ac3c45_0_289"/>
          <p:cNvSpPr txBox="1"/>
          <p:nvPr/>
        </p:nvSpPr>
        <p:spPr>
          <a:xfrm>
            <a:off x="74700" y="538800"/>
            <a:ext cx="893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4f41ac3c45_0_289"/>
          <p:cNvSpPr txBox="1"/>
          <p:nvPr/>
        </p:nvSpPr>
        <p:spPr>
          <a:xfrm>
            <a:off x="-47725" y="538800"/>
            <a:ext cx="8938500" cy="6064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</a:rPr>
              <a:t>//Java Program to illustrate the use of </a:t>
            </a:r>
            <a:r>
              <a:rPr lang="en-US" sz="1800">
                <a:solidFill>
                  <a:srgbClr val="FF0000"/>
                </a:solidFill>
              </a:rPr>
              <a:t>Null Pointer Exception</a:t>
            </a:r>
            <a:r>
              <a:rPr lang="en-US" sz="1800">
                <a:solidFill>
                  <a:srgbClr val="0000FF"/>
                </a:solidFill>
              </a:rPr>
              <a:t> in Java  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public class Main {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public static void main(String[] args) {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		String str = null; // Initializing a String variable to null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		try {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		int length = str.length(); // Attempting to call a method on a null reference    </a:t>
            </a:r>
            <a:endParaRPr sz="1800">
              <a:solidFill>
                <a:srgbClr val="FF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	System.out.println("Length of the string: " + length);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	} catch (NullPointerException e) {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		     	System.out.println("Error: Null reference encountered.");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		// Additional error handling code can be added here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	}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}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}	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4f41ac3c45_0_296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The try-catch Block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4f41ac3c45_0_296"/>
          <p:cNvSpPr txBox="1"/>
          <p:nvPr/>
        </p:nvSpPr>
        <p:spPr>
          <a:xfrm>
            <a:off x="74700" y="538800"/>
            <a:ext cx="893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4f41ac3c45_0_296"/>
          <p:cNvSpPr txBox="1"/>
          <p:nvPr/>
        </p:nvSpPr>
        <p:spPr>
          <a:xfrm>
            <a:off x="-47725" y="538800"/>
            <a:ext cx="8938500" cy="6341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</a:rPr>
              <a:t>//Java Program to illustrate the use of </a:t>
            </a:r>
            <a:r>
              <a:rPr lang="en-US" sz="1800">
                <a:solidFill>
                  <a:srgbClr val="FF0000"/>
                </a:solidFill>
              </a:rPr>
              <a:t>Number Format Exception</a:t>
            </a:r>
            <a:r>
              <a:rPr lang="en-US" sz="1800">
                <a:solidFill>
                  <a:srgbClr val="0000FF"/>
                </a:solidFill>
              </a:rPr>
              <a:t> in Java 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public class Main {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public static void main(String[] args) {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	String str = "abc"; // Initializing a String with non-numeric characters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	try {    </a:t>
            </a:r>
            <a:endParaRPr sz="1800">
              <a:solidFill>
                <a:srgbClr val="FF0000"/>
              </a:solidFill>
            </a:endParaRPr>
          </a:p>
          <a:p>
            <a:pPr indent="-3371850" lvl="0" marL="474345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i</a:t>
            </a:r>
            <a:r>
              <a:rPr lang="en-US" sz="1800">
                <a:solidFill>
                  <a:srgbClr val="FF0000"/>
                </a:solidFill>
              </a:rPr>
              <a:t>nt num = Integer.parseInt(str); // Attempting to parse a non-numeric string to an integer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		System.out.println("Parsed number: " + num);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	} catch (NumberFormatException e) {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		System.out.println("Error: Unable to parse the string as an integer.");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			// Additional error handling code can be added here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	}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}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}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f41ac3c45_0_304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The try-catch Block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4f41ac3c45_0_304"/>
          <p:cNvSpPr txBox="1"/>
          <p:nvPr/>
        </p:nvSpPr>
        <p:spPr>
          <a:xfrm>
            <a:off x="74700" y="538800"/>
            <a:ext cx="893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4f41ac3c45_0_304"/>
          <p:cNvSpPr txBox="1"/>
          <p:nvPr/>
        </p:nvSpPr>
        <p:spPr>
          <a:xfrm>
            <a:off x="-47725" y="538800"/>
            <a:ext cx="8938500" cy="6341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</a:rPr>
              <a:t>//Java Program to illustrate the use of </a:t>
            </a:r>
            <a:r>
              <a:rPr lang="en-US" sz="1800">
                <a:solidFill>
                  <a:srgbClr val="FF0000"/>
                </a:solidFill>
              </a:rPr>
              <a:t>ArrayIndexOutOfBoundsException</a:t>
            </a:r>
            <a:r>
              <a:rPr lang="en-US" sz="1800">
                <a:solidFill>
                  <a:srgbClr val="0000FF"/>
                </a:solidFill>
              </a:rPr>
              <a:t> in Java  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public class Main {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public static void main(String[] args) {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int[] numbers = {1, 2, 3, 4, 5}; // Initializing an array with 5 elements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try {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int index = 10; // Accessing an index that is out of bounds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int value = numbers[index]; // Attempting to access an element at an invalid index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System.out.println("Value at index " + index + ": " + value);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} catch (ArrayIndexOutOfBoundsException e) {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System.out.println("Error: Index is out of bounds.");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// Additional error handling code can be added here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}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}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} 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4f41ac3c45_0_264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Java Multi-catch block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4f41ac3c45_0_264"/>
          <p:cNvSpPr txBox="1"/>
          <p:nvPr/>
        </p:nvSpPr>
        <p:spPr>
          <a:xfrm>
            <a:off x="74700" y="538800"/>
            <a:ext cx="893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4f41ac3c45_0_264"/>
          <p:cNvSpPr txBox="1"/>
          <p:nvPr/>
        </p:nvSpPr>
        <p:spPr>
          <a:xfrm>
            <a:off x="205500" y="620925"/>
            <a:ext cx="89385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rgbClr val="0000FF"/>
                </a:solidFill>
              </a:rPr>
              <a:t>At a time only one exception occurs</a:t>
            </a:r>
            <a:r>
              <a:rPr lang="en-US" sz="1800">
                <a:solidFill>
                  <a:schemeClr val="dk1"/>
                </a:solidFill>
              </a:rPr>
              <a:t> and at a time </a:t>
            </a:r>
            <a:r>
              <a:rPr lang="en-US" sz="1800">
                <a:solidFill>
                  <a:srgbClr val="0000FF"/>
                </a:solidFill>
              </a:rPr>
              <a:t>only one catch block</a:t>
            </a:r>
            <a:r>
              <a:rPr lang="en-US" sz="1800">
                <a:solidFill>
                  <a:schemeClr val="dk1"/>
                </a:solidFill>
              </a:rPr>
              <a:t> is executed.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All </a:t>
            </a:r>
            <a:r>
              <a:rPr lang="en-US" sz="1800">
                <a:solidFill>
                  <a:srgbClr val="0000FF"/>
                </a:solidFill>
              </a:rPr>
              <a:t>catch blocks must be ordered </a:t>
            </a:r>
            <a:r>
              <a:rPr lang="en-US" sz="1800">
                <a:solidFill>
                  <a:schemeClr val="dk1"/>
                </a:solidFill>
              </a:rPr>
              <a:t>from </a:t>
            </a:r>
            <a:r>
              <a:rPr lang="en-US" sz="1800">
                <a:solidFill>
                  <a:srgbClr val="FF0000"/>
                </a:solidFill>
              </a:rPr>
              <a:t>most specific to most general,</a:t>
            </a:r>
            <a:r>
              <a:rPr lang="en-US" sz="1800">
                <a:solidFill>
                  <a:schemeClr val="dk1"/>
                </a:solidFill>
              </a:rPr>
              <a:t> i.e. catch for </a:t>
            </a:r>
            <a:r>
              <a:rPr lang="en-US" sz="1800">
                <a:solidFill>
                  <a:srgbClr val="FF0000"/>
                </a:solidFill>
              </a:rPr>
              <a:t>ArithmeticException </a:t>
            </a:r>
            <a:r>
              <a:rPr lang="en-US" sz="1800">
                <a:solidFill>
                  <a:schemeClr val="dk1"/>
                </a:solidFill>
              </a:rPr>
              <a:t>must come </a:t>
            </a:r>
            <a:r>
              <a:rPr lang="en-US" sz="1800">
                <a:solidFill>
                  <a:srgbClr val="FF0000"/>
                </a:solidFill>
              </a:rPr>
              <a:t>before</a:t>
            </a:r>
            <a:r>
              <a:rPr lang="en-US" sz="1800">
                <a:solidFill>
                  <a:schemeClr val="dk1"/>
                </a:solidFill>
              </a:rPr>
              <a:t> catch for </a:t>
            </a:r>
            <a:r>
              <a:rPr lang="en-US" sz="1800">
                <a:solidFill>
                  <a:srgbClr val="FF0000"/>
                </a:solidFill>
              </a:rPr>
              <a:t>Exception.</a:t>
            </a:r>
            <a:endParaRPr sz="1800">
              <a:solidFill>
                <a:srgbClr val="FF0000"/>
              </a:solidFill>
            </a:endParaRPr>
          </a:p>
        </p:txBody>
      </p:sp>
      <p:pic>
        <p:nvPicPr>
          <p:cNvPr id="205" name="Google Shape;205;g34f41ac3c45_0_2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8300" y="2192425"/>
            <a:ext cx="6702000" cy="438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4f41ac3c45_0_357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Java Multi-catch block</a:t>
            </a:r>
            <a:endParaRPr b="1" sz="2300">
              <a:solidFill>
                <a:srgbClr val="9900FF"/>
              </a:solidFill>
            </a:endParaRPr>
          </a:p>
        </p:txBody>
      </p:sp>
      <p:sp>
        <p:nvSpPr>
          <p:cNvPr id="211" name="Google Shape;211;g34f41ac3c45_0_357"/>
          <p:cNvSpPr txBox="1"/>
          <p:nvPr/>
        </p:nvSpPr>
        <p:spPr>
          <a:xfrm>
            <a:off x="74700" y="538800"/>
            <a:ext cx="893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4f41ac3c45_0_357"/>
          <p:cNvSpPr txBox="1"/>
          <p:nvPr/>
        </p:nvSpPr>
        <p:spPr>
          <a:xfrm>
            <a:off x="156825" y="538800"/>
            <a:ext cx="8938500" cy="5389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</a:t>
            </a:r>
            <a:r>
              <a:rPr lang="en-US" sz="1800">
                <a:solidFill>
                  <a:srgbClr val="FF0000"/>
                </a:solidFill>
              </a:rPr>
              <a:t>	public class MultipleCatchBlock1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	 	    	public static void main(String[] args)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	           	try{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			  	int a[]=new int[5];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 			a[5]=30/0;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	}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	catch(ArithmeticException e) 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    		System.out.println("Arithmetic Exception occurs");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   	}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	catch(ArrayIndexOutOfBoundsException e)  	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    		System.out.println("ArrayIndexOutOfBounds Exception occurs");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   	}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	catch(Exception e) 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    		System.out.println("Parent Exception occurs");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   	}        	                	</a:t>
            </a:r>
            <a:endParaRPr sz="1800">
              <a:solidFill>
                <a:srgbClr val="FF0000"/>
              </a:solidFill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System.out.println("rest of the code");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	}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} 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13" name="Google Shape;213;g34f41ac3c45_0_357"/>
          <p:cNvSpPr txBox="1"/>
          <p:nvPr/>
        </p:nvSpPr>
        <p:spPr>
          <a:xfrm>
            <a:off x="156825" y="6026700"/>
            <a:ext cx="8938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</a:rPr>
              <a:t>Output: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</a:rPr>
              <a:t>Arithmetic Exception occurs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</a:rPr>
              <a:t>rest of the code</a:t>
            </a:r>
            <a:endParaRPr sz="160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4f41ac3c45_0_382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Java Multi-catch block</a:t>
            </a:r>
            <a:endParaRPr b="1" sz="2300">
              <a:solidFill>
                <a:srgbClr val="9900FF"/>
              </a:solidFill>
            </a:endParaRPr>
          </a:p>
        </p:txBody>
      </p:sp>
      <p:sp>
        <p:nvSpPr>
          <p:cNvPr id="219" name="Google Shape;219;g34f41ac3c45_0_382"/>
          <p:cNvSpPr txBox="1"/>
          <p:nvPr/>
        </p:nvSpPr>
        <p:spPr>
          <a:xfrm>
            <a:off x="74700" y="538800"/>
            <a:ext cx="893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4f41ac3c45_0_382"/>
          <p:cNvSpPr txBox="1"/>
          <p:nvPr/>
        </p:nvSpPr>
        <p:spPr>
          <a:xfrm>
            <a:off x="156825" y="538800"/>
            <a:ext cx="8938500" cy="5389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</a:t>
            </a:r>
            <a:r>
              <a:rPr lang="en-US" sz="1800">
                <a:solidFill>
                  <a:srgbClr val="FF0000"/>
                </a:solidFill>
              </a:rPr>
              <a:t>public class MultipleCatchBlock2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	    	public static void main(String[] args)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   	try{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		         	int a[]=new int[5];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             	System.out.println(a[10]);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	}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	catch(ArithmeticException e)   	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    		System.out.println("Arithmetic Exception occurs");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   	}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	catch(ArrayIndexOutOfBoundsException e)  	{  </a:t>
            </a:r>
            <a:endParaRPr sz="1800">
              <a:solidFill>
                <a:srgbClr val="FF0000"/>
              </a:solidFill>
            </a:endParaRPr>
          </a:p>
          <a:p>
            <a:pPr indent="45720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    	System.out.println("ArrayIndexOutOfBounds Exception occurs");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   	}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	catch(Exception e)  {  </a:t>
            </a:r>
            <a:endParaRPr sz="1800">
              <a:solidFill>
                <a:srgbClr val="FF0000"/>
              </a:solidFill>
            </a:endParaRPr>
          </a:p>
          <a:p>
            <a:pPr indent="45720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    	System.out.println("Parent Exception occurs");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   	}        	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	System.out.println("rest of the code");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	}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} 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21" name="Google Shape;221;g34f41ac3c45_0_382"/>
          <p:cNvSpPr txBox="1"/>
          <p:nvPr/>
        </p:nvSpPr>
        <p:spPr>
          <a:xfrm>
            <a:off x="156825" y="6026700"/>
            <a:ext cx="8938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</a:rPr>
              <a:t>Output: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</a:rPr>
              <a:t>ArrayIndexOutOfBounds Exception occurs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</a:rPr>
              <a:t>rest of the code</a:t>
            </a:r>
            <a:endParaRPr sz="160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4e1308986f_0_0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Java Multi-catch block</a:t>
            </a:r>
            <a:endParaRPr b="1" sz="2300">
              <a:solidFill>
                <a:srgbClr val="9900FF"/>
              </a:solidFill>
            </a:endParaRPr>
          </a:p>
        </p:txBody>
      </p:sp>
      <p:sp>
        <p:nvSpPr>
          <p:cNvPr id="227" name="Google Shape;227;g34e1308986f_0_0"/>
          <p:cNvSpPr txBox="1"/>
          <p:nvPr/>
        </p:nvSpPr>
        <p:spPr>
          <a:xfrm>
            <a:off x="74700" y="538800"/>
            <a:ext cx="893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4e1308986f_0_0"/>
          <p:cNvSpPr txBox="1"/>
          <p:nvPr/>
        </p:nvSpPr>
        <p:spPr>
          <a:xfrm>
            <a:off x="156825" y="462600"/>
            <a:ext cx="8938500" cy="5679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	public class MultipleCatchBlock3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	     	public static void main(String[] args)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	       	try{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     		int a[]=new int[5];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     		a[5]=30/0;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     		System.out.println(a[10]);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    	}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    	catch(ArithmeticException e)  	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        		System.out.println("Arithmetic Exception occurs");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       	}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    	catch(ArrayIndexOutOfBoundsException e)  	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        		System.out.println("ArrayIndexOutOfBounds Exception occurs");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       	}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    	catch(Exception e)     	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        		System.out.println("Parent Exception occurs");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       	}        	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    	System.out.println("rest of the code");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	}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} 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29" name="Google Shape;229;g34e1308986f_0_0"/>
          <p:cNvSpPr txBox="1"/>
          <p:nvPr/>
        </p:nvSpPr>
        <p:spPr>
          <a:xfrm>
            <a:off x="156825" y="6026700"/>
            <a:ext cx="8938500" cy="9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</a:rPr>
              <a:t>Output: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0000FF"/>
                </a:solidFill>
              </a:rPr>
              <a:t>Arithmetic Exception occurs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</a:rPr>
              <a:t>rest of the code</a:t>
            </a:r>
            <a:endParaRPr sz="160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4e1308986f_0_8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Java Multi-catch block</a:t>
            </a:r>
            <a:endParaRPr b="1" sz="2300">
              <a:solidFill>
                <a:srgbClr val="9900FF"/>
              </a:solidFill>
            </a:endParaRPr>
          </a:p>
        </p:txBody>
      </p:sp>
      <p:sp>
        <p:nvSpPr>
          <p:cNvPr id="235" name="Google Shape;235;g34e1308986f_0_8"/>
          <p:cNvSpPr txBox="1"/>
          <p:nvPr/>
        </p:nvSpPr>
        <p:spPr>
          <a:xfrm>
            <a:off x="74700" y="538800"/>
            <a:ext cx="893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4e1308986f_0_8"/>
          <p:cNvSpPr txBox="1"/>
          <p:nvPr/>
        </p:nvSpPr>
        <p:spPr>
          <a:xfrm>
            <a:off x="156825" y="462600"/>
            <a:ext cx="8938500" cy="5389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public class MultipleCatchBlock4 {   	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	public static void main(String[] args)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	      	try{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 		String s=null;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 		System.out.println(s.length());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	}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	catch(ArithmeticException e)   	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    		System.out.println("Arithmetic Exception occurs");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   	}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	catch(ArrayIndexOutOfBoundsException e)  </a:t>
            </a:r>
            <a:r>
              <a:rPr lang="en-US" sz="1800">
                <a:solidFill>
                  <a:srgbClr val="FF0000"/>
                </a:solidFill>
              </a:rPr>
              <a:t>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    		System.out.println("ArrayIndexOutOfBounds Exception occurs");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   	}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	catch(Exception e) 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    		System.out.println("Parent Exception occurs");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   	}        	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	System.out.println("rest of the code");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	}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} 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37" name="Google Shape;237;g34e1308986f_0_8"/>
          <p:cNvSpPr txBox="1"/>
          <p:nvPr/>
        </p:nvSpPr>
        <p:spPr>
          <a:xfrm>
            <a:off x="156825" y="5908800"/>
            <a:ext cx="8938500" cy="9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</a:rPr>
              <a:t>Output: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</a:rPr>
              <a:t>Parent Exception occurs"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</a:rPr>
              <a:t>rest of the code</a:t>
            </a:r>
            <a:endParaRPr sz="160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4e1308986f_0_17"/>
          <p:cNvSpPr txBox="1"/>
          <p:nvPr/>
        </p:nvSpPr>
        <p:spPr>
          <a:xfrm>
            <a:off x="0" y="0"/>
            <a:ext cx="9087900" cy="12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Java Multi-catch block: </a:t>
            </a:r>
            <a:r>
              <a:rPr b="1" lang="en-US" sz="2300">
                <a:solidFill>
                  <a:srgbClr val="0000FF"/>
                </a:solidFill>
              </a:rPr>
              <a:t>without the order of exceptions</a:t>
            </a:r>
            <a:endParaRPr b="1" sz="23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t/>
            </a:r>
            <a:endParaRPr b="1" sz="2300">
              <a:solidFill>
                <a:srgbClr val="9900FF"/>
              </a:solidFill>
            </a:endParaRPr>
          </a:p>
        </p:txBody>
      </p:sp>
      <p:sp>
        <p:nvSpPr>
          <p:cNvPr id="243" name="Google Shape;243;g34e1308986f_0_17"/>
          <p:cNvSpPr txBox="1"/>
          <p:nvPr/>
        </p:nvSpPr>
        <p:spPr>
          <a:xfrm>
            <a:off x="74700" y="538800"/>
            <a:ext cx="893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4e1308986f_0_17"/>
          <p:cNvSpPr txBox="1"/>
          <p:nvPr/>
        </p:nvSpPr>
        <p:spPr>
          <a:xfrm>
            <a:off x="156825" y="453325"/>
            <a:ext cx="8938500" cy="5679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</a:t>
            </a:r>
            <a:r>
              <a:rPr lang="en-US" sz="1800">
                <a:solidFill>
                  <a:srgbClr val="FF0000"/>
                </a:solidFill>
              </a:rPr>
              <a:t>class MultipleCatchBlock5{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		public static void main(String args[]){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			try{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			int a[]=new int[5];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			a[5]=30/0;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				}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			catch(Exception e){</a:t>
            </a:r>
            <a:endParaRPr sz="1800">
              <a:solidFill>
                <a:srgbClr val="FF0000"/>
              </a:solidFill>
            </a:endParaRPr>
          </a:p>
          <a:p>
            <a:pPr indent="457200" lvl="0" marL="137160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System.out.println("common task completed");</a:t>
            </a:r>
            <a:endParaRPr sz="1800">
              <a:solidFill>
                <a:srgbClr val="FF0000"/>
              </a:solidFill>
            </a:endParaRPr>
          </a:p>
          <a:p>
            <a:pPr indent="457200" lvl="0" marL="137160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}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			catch(ArithmeticException e){</a:t>
            </a:r>
            <a:endParaRPr sz="1800">
              <a:solidFill>
                <a:srgbClr val="FF0000"/>
              </a:solidFill>
            </a:endParaRPr>
          </a:p>
          <a:p>
            <a:pPr indent="457200" lvl="0" marL="137160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System.out.println("task1 is completed");</a:t>
            </a:r>
            <a:endParaRPr sz="1800">
              <a:solidFill>
                <a:srgbClr val="FF0000"/>
              </a:solidFill>
            </a:endParaRPr>
          </a:p>
          <a:p>
            <a:pPr indent="457200" lvl="0" marL="137160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}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			catch(ArrayIndexOutOfBoundsException e){</a:t>
            </a:r>
            <a:endParaRPr sz="1800">
              <a:solidFill>
                <a:srgbClr val="FF0000"/>
              </a:solidFill>
            </a:endParaRPr>
          </a:p>
          <a:p>
            <a:pPr indent="457200" lvl="0" marL="137160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System.out.println("task 2 completed");</a:t>
            </a:r>
            <a:endParaRPr sz="1800">
              <a:solidFill>
                <a:srgbClr val="FF0000"/>
              </a:solidFill>
            </a:endParaRPr>
          </a:p>
          <a:p>
            <a:pPr indent="457200" lvl="0" marL="137160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}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		System.out.println("rest of the code...");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		}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}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45" name="Google Shape;245;g34e1308986f_0_17"/>
          <p:cNvSpPr txBox="1"/>
          <p:nvPr/>
        </p:nvSpPr>
        <p:spPr>
          <a:xfrm>
            <a:off x="156825" y="6180900"/>
            <a:ext cx="8938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</a:rPr>
              <a:t>Output: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</a:rPr>
              <a:t>Compile-time error</a:t>
            </a:r>
            <a:endParaRPr sz="160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4e1308986f_0_27"/>
          <p:cNvSpPr txBox="1"/>
          <p:nvPr/>
        </p:nvSpPr>
        <p:spPr>
          <a:xfrm>
            <a:off x="0" y="0"/>
            <a:ext cx="9087900" cy="12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Java Nested try Example</a:t>
            </a:r>
            <a:endParaRPr b="1" sz="23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t/>
            </a:r>
            <a:endParaRPr b="1" sz="2300">
              <a:solidFill>
                <a:srgbClr val="9900FF"/>
              </a:solidFill>
            </a:endParaRPr>
          </a:p>
        </p:txBody>
      </p:sp>
      <p:sp>
        <p:nvSpPr>
          <p:cNvPr id="251" name="Google Shape;251;g34e1308986f_0_27"/>
          <p:cNvSpPr txBox="1"/>
          <p:nvPr/>
        </p:nvSpPr>
        <p:spPr>
          <a:xfrm>
            <a:off x="74700" y="538800"/>
            <a:ext cx="893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4e1308986f_0_27"/>
          <p:cNvSpPr txBox="1"/>
          <p:nvPr/>
        </p:nvSpPr>
        <p:spPr>
          <a:xfrm>
            <a:off x="156825" y="453325"/>
            <a:ext cx="8938500" cy="6508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</a:rPr>
              <a:t>	</a:t>
            </a:r>
            <a:r>
              <a:rPr lang="en-US" sz="1500"/>
              <a:t>public class NestedTryBlock{    </a:t>
            </a:r>
            <a:endParaRPr sz="1500"/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</a:rPr>
              <a:t> 		</a:t>
            </a:r>
            <a:r>
              <a:rPr lang="en-US" sz="1500"/>
              <a:t>public static void main(String args[]){   </a:t>
            </a:r>
            <a:endParaRPr sz="1500"/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</a:rPr>
              <a:t> 		  	try{ //Outer try block</a:t>
            </a:r>
            <a:endParaRPr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</a:rPr>
              <a:t>    				</a:t>
            </a:r>
            <a:r>
              <a:rPr lang="en-US" sz="1500">
                <a:solidFill>
                  <a:srgbClr val="0000FF"/>
                </a:solidFill>
              </a:rPr>
              <a:t>try{    //inner try block1</a:t>
            </a:r>
            <a:endParaRPr sz="15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FF"/>
                </a:solidFill>
              </a:rPr>
              <a:t>     						System.out.println("going to divide by 0");    </a:t>
            </a:r>
            <a:endParaRPr sz="1500">
              <a:solidFill>
                <a:srgbClr val="0000FF"/>
              </a:solidFill>
            </a:endParaRPr>
          </a:p>
          <a:p>
            <a:pPr indent="457200" lvl="0" marL="182880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FF"/>
                </a:solidFill>
              </a:rPr>
              <a:t>     	int b =39/0;    </a:t>
            </a:r>
            <a:endParaRPr sz="15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FF"/>
                </a:solidFill>
              </a:rPr>
              <a:t>   				   }  </a:t>
            </a:r>
            <a:endParaRPr sz="1500">
              <a:solidFill>
                <a:srgbClr val="0000FF"/>
              </a:solidFill>
            </a:endParaRPr>
          </a:p>
          <a:p>
            <a:pPr indent="457200" lvl="0" marL="91440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</a:rPr>
              <a:t>    	</a:t>
            </a:r>
            <a:r>
              <a:rPr lang="en-US" sz="1500">
                <a:solidFill>
                  <a:srgbClr val="0000FF"/>
                </a:solidFill>
              </a:rPr>
              <a:t>catch(ArithmeticException e)     	{  //inner catch block1 </a:t>
            </a:r>
            <a:endParaRPr sz="1500">
              <a:solidFill>
                <a:srgbClr val="0000FF"/>
              </a:solidFill>
            </a:endParaRPr>
          </a:p>
          <a:p>
            <a:pPr indent="457200" lvl="0" marL="182880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FF"/>
                </a:solidFill>
              </a:rPr>
              <a:t>      	System.out.println(e);  </a:t>
            </a:r>
            <a:endParaRPr sz="15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FF"/>
                </a:solidFill>
              </a:rPr>
              <a:t>    				   }  </a:t>
            </a:r>
            <a:r>
              <a:rPr lang="en-US" sz="1500">
                <a:solidFill>
                  <a:srgbClr val="FF0000"/>
                </a:solidFill>
              </a:rPr>
              <a:t>  </a:t>
            </a:r>
            <a:endParaRPr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</a:rPr>
              <a:t>      	 			</a:t>
            </a:r>
            <a:r>
              <a:rPr lang="en-US" sz="1500">
                <a:solidFill>
                  <a:srgbClr val="9900FF"/>
                </a:solidFill>
              </a:rPr>
              <a:t>try{    //inner tryblock2</a:t>
            </a:r>
            <a:endParaRPr sz="1500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900FF"/>
                </a:solidFill>
              </a:rPr>
              <a:t>    						int a[]=new int[5];    </a:t>
            </a:r>
            <a:endParaRPr sz="1500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900FF"/>
                </a:solidFill>
              </a:rPr>
              <a:t> 					     	a[5]=4;    </a:t>
            </a:r>
            <a:endParaRPr sz="1500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900FF"/>
                </a:solidFill>
              </a:rPr>
              <a:t>     				    }  </a:t>
            </a:r>
            <a:endParaRPr sz="1500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900FF"/>
                </a:solidFill>
              </a:rPr>
              <a:t> 	 			catch(ArrayIndexOutOfBoundsException e)      	{  //inner catch block1</a:t>
            </a:r>
            <a:endParaRPr sz="1500">
              <a:solidFill>
                <a:srgbClr val="9900FF"/>
              </a:solidFill>
            </a:endParaRPr>
          </a:p>
          <a:p>
            <a:pPr indent="457200" lvl="0" marL="182880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900FF"/>
                </a:solidFill>
              </a:rPr>
              <a:t>       	System.out.println(e);  </a:t>
            </a:r>
            <a:endParaRPr sz="1500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900FF"/>
                </a:solidFill>
              </a:rPr>
              <a:t>    			    	    }</a:t>
            </a:r>
            <a:r>
              <a:rPr lang="en-US" sz="1500">
                <a:solidFill>
                  <a:srgbClr val="FF0000"/>
                </a:solidFill>
              </a:rPr>
              <a:t>    </a:t>
            </a:r>
            <a:endParaRPr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</a:rPr>
              <a:t> 			     	System.out.println("other statement");    </a:t>
            </a:r>
            <a:endParaRPr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</a:rPr>
              <a:t>         	}  </a:t>
            </a:r>
            <a:endParaRPr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</a:rPr>
              <a:t>  		catch(Exception e)    	{  //outer catch block</a:t>
            </a:r>
            <a:endParaRPr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</a:rPr>
              <a:t>    			     System.out.println("handled the exception (outer catch)");  </a:t>
            </a:r>
            <a:endParaRPr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</a:rPr>
              <a:t>  			}    </a:t>
            </a:r>
            <a:endParaRPr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</a:rPr>
              <a:t>   	 </a:t>
            </a:r>
            <a:endParaRPr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</a:rPr>
              <a:t>  			</a:t>
            </a:r>
            <a:r>
              <a:rPr lang="en-US" sz="1500"/>
              <a:t>System.out.println("normal flow..");    </a:t>
            </a:r>
            <a:endParaRPr sz="1500"/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</a:rPr>
              <a:t> 		</a:t>
            </a:r>
            <a:r>
              <a:rPr lang="en-US" sz="1500"/>
              <a:t>}    </a:t>
            </a:r>
            <a:endParaRPr sz="1500"/>
          </a:p>
          <a:p>
            <a:pPr indent="0" lvl="0" marL="0" rtl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500"/>
              <a:t>	} </a:t>
            </a:r>
            <a:endParaRPr sz="1500"/>
          </a:p>
        </p:txBody>
      </p:sp>
      <p:pic>
        <p:nvPicPr>
          <p:cNvPr id="253" name="Google Shape;253;g34e1308986f_0_27"/>
          <p:cNvPicPr preferRelativeResize="0"/>
          <p:nvPr/>
        </p:nvPicPr>
        <p:blipFill rotWithShape="1">
          <a:blip r:embed="rId3">
            <a:alphaModFix/>
          </a:blip>
          <a:srcRect b="0" l="0" r="0" t="36106"/>
          <a:stretch/>
        </p:blipFill>
        <p:spPr>
          <a:xfrm>
            <a:off x="236200" y="5553677"/>
            <a:ext cx="8615474" cy="125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4f41ac3c45_0_368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The finally Block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4f41ac3c45_0_368"/>
          <p:cNvSpPr txBox="1"/>
          <p:nvPr/>
        </p:nvSpPr>
        <p:spPr>
          <a:xfrm>
            <a:off x="244875" y="1653450"/>
            <a:ext cx="8762400" cy="4230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public class TestFinallyBlock2{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	public static void main(String args[]){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	     	try {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	         	       	int data=25/0;    </a:t>
            </a:r>
            <a:endParaRPr sz="1800">
              <a:solidFill>
                <a:srgbClr val="FF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	}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	 	catch(ArithmeticException e){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	        	System.out.println(e);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			}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	       	finally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		System.out.println("finally block is always executed");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		}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	       		System.out.println("rest of the code...");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		}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} 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60" name="Google Shape;260;g34f41ac3c45_0_36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4f41ac3c45_0_368"/>
          <p:cNvSpPr txBox="1"/>
          <p:nvPr/>
        </p:nvSpPr>
        <p:spPr>
          <a:xfrm>
            <a:off x="250900" y="360750"/>
            <a:ext cx="89385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allows you to </a:t>
            </a:r>
            <a:r>
              <a:rPr lang="en-US" sz="1800">
                <a:solidFill>
                  <a:srgbClr val="0000FF"/>
                </a:solidFill>
              </a:rPr>
              <a:t>execute cleanup code</a:t>
            </a:r>
            <a:r>
              <a:rPr lang="en-US" sz="1800">
                <a:solidFill>
                  <a:schemeClr val="dk1"/>
                </a:solidFill>
              </a:rPr>
              <a:t>, such as</a:t>
            </a:r>
            <a:r>
              <a:rPr lang="en-US" sz="1800">
                <a:solidFill>
                  <a:srgbClr val="0000FF"/>
                </a:solidFill>
              </a:rPr>
              <a:t> </a:t>
            </a:r>
            <a:r>
              <a:rPr lang="en-US" sz="1800">
                <a:solidFill>
                  <a:srgbClr val="FF0000"/>
                </a:solidFill>
              </a:rPr>
              <a:t>closing resources</a:t>
            </a:r>
            <a:r>
              <a:rPr lang="en-US" sz="1800">
                <a:solidFill>
                  <a:schemeClr val="dk1"/>
                </a:solidFill>
              </a:rPr>
              <a:t>, regardless of whether an exception occurs or not.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The finally block is typically used to </a:t>
            </a:r>
            <a:r>
              <a:rPr lang="en-US" sz="1800">
                <a:solidFill>
                  <a:srgbClr val="0000FF"/>
                </a:solidFill>
              </a:rPr>
              <a:t>release resources</a:t>
            </a:r>
            <a:r>
              <a:rPr lang="en-US" sz="1800">
                <a:solidFill>
                  <a:schemeClr val="dk1"/>
                </a:solidFill>
              </a:rPr>
              <a:t> that were acquired in the try block.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62" name="Google Shape;262;g34f41ac3c45_0_368"/>
          <p:cNvSpPr txBox="1"/>
          <p:nvPr/>
        </p:nvSpPr>
        <p:spPr>
          <a:xfrm>
            <a:off x="244875" y="5934600"/>
            <a:ext cx="8938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</a:rPr>
              <a:t>Output: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</a:rPr>
              <a:t>java.lang.ArithmeticException: / by zero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</a:rPr>
              <a:t>finally block is always executed</a:t>
            </a:r>
            <a:endParaRPr sz="160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4e1308986f_0_41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Java throw Exception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4e1308986f_0_41"/>
          <p:cNvSpPr txBox="1"/>
          <p:nvPr/>
        </p:nvSpPr>
        <p:spPr>
          <a:xfrm>
            <a:off x="260175" y="538800"/>
            <a:ext cx="89385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The Java </a:t>
            </a:r>
            <a:r>
              <a:rPr lang="en-US" sz="1800">
                <a:solidFill>
                  <a:srgbClr val="0000FF"/>
                </a:solidFill>
              </a:rPr>
              <a:t>throw keyword</a:t>
            </a:r>
            <a:r>
              <a:rPr lang="en-US" sz="1800">
                <a:solidFill>
                  <a:schemeClr val="dk1"/>
                </a:solidFill>
              </a:rPr>
              <a:t> is used to throw an exception explicitly.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The </a:t>
            </a:r>
            <a:r>
              <a:rPr lang="en-US" sz="1800">
                <a:solidFill>
                  <a:srgbClr val="0000FF"/>
                </a:solidFill>
              </a:rPr>
              <a:t>Exception has</a:t>
            </a:r>
            <a:r>
              <a:rPr lang="en-US" sz="1800">
                <a:solidFill>
                  <a:schemeClr val="dk1"/>
                </a:solidFill>
              </a:rPr>
              <a:t> some </a:t>
            </a:r>
            <a:r>
              <a:rPr lang="en-US" sz="1800">
                <a:solidFill>
                  <a:srgbClr val="0000FF"/>
                </a:solidFill>
              </a:rPr>
              <a:t>message </a:t>
            </a:r>
            <a:r>
              <a:rPr lang="en-US" sz="1800">
                <a:solidFill>
                  <a:schemeClr val="dk1"/>
                </a:solidFill>
              </a:rPr>
              <a:t>with it that provides the error description.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Throw either </a:t>
            </a:r>
            <a:r>
              <a:rPr lang="en-US" sz="1800">
                <a:solidFill>
                  <a:srgbClr val="0000FF"/>
                </a:solidFill>
              </a:rPr>
              <a:t>checked</a:t>
            </a:r>
            <a:r>
              <a:rPr lang="en-US" sz="1800">
                <a:solidFill>
                  <a:schemeClr val="dk1"/>
                </a:solidFill>
              </a:rPr>
              <a:t> or </a:t>
            </a:r>
            <a:r>
              <a:rPr lang="en-US" sz="1800">
                <a:solidFill>
                  <a:srgbClr val="0000FF"/>
                </a:solidFill>
              </a:rPr>
              <a:t>unchecked exceptions. </a:t>
            </a:r>
            <a:endParaRPr sz="1800">
              <a:solidFill>
                <a:srgbClr val="0000FF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It is mainly used to t</a:t>
            </a:r>
            <a:r>
              <a:rPr lang="en-US" sz="1800">
                <a:solidFill>
                  <a:srgbClr val="0000FF"/>
                </a:solidFill>
              </a:rPr>
              <a:t>hrow a custom exception.</a:t>
            </a:r>
            <a:endParaRPr sz="1800">
              <a:solidFill>
                <a:srgbClr val="0000FF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rgbClr val="0000FF"/>
                </a:solidFill>
              </a:rPr>
              <a:t>Define our own set of conditions</a:t>
            </a:r>
            <a:r>
              <a:rPr lang="en-US" sz="1800">
                <a:solidFill>
                  <a:schemeClr val="dk1"/>
                </a:solidFill>
              </a:rPr>
              <a:t> and throw an exception explicitly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69" name="Google Shape;269;g34e1308986f_0_41"/>
          <p:cNvSpPr txBox="1"/>
          <p:nvPr/>
        </p:nvSpPr>
        <p:spPr>
          <a:xfrm>
            <a:off x="1572000" y="2981100"/>
            <a:ext cx="51186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Syntax: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rgbClr val="0000FF"/>
                </a:solidFill>
              </a:rPr>
              <a:t>throw new </a:t>
            </a:r>
            <a:r>
              <a:rPr lang="en-US" sz="1800">
                <a:solidFill>
                  <a:srgbClr val="FF0000"/>
                </a:solidFill>
              </a:rPr>
              <a:t>exception_class("error message"); 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4e1308986f_0_53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Java throw Exception: 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4e1308986f_0_53"/>
          <p:cNvSpPr txBox="1"/>
          <p:nvPr/>
        </p:nvSpPr>
        <p:spPr>
          <a:xfrm>
            <a:off x="162750" y="538800"/>
            <a:ext cx="8762400" cy="5661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	public class TestThrow1 { 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		//function to check if person is eligible to vote or not 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	 	public static void validate(int age) {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    		if(age&lt;18) {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        			//throw Arithmetic exception if not eligible to vote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        			</a:t>
            </a:r>
            <a:r>
              <a:rPr lang="en-US" sz="1700">
                <a:solidFill>
                  <a:srgbClr val="0000FF"/>
                </a:solidFill>
              </a:rPr>
              <a:t>throw new</a:t>
            </a:r>
            <a:r>
              <a:rPr lang="en-US" sz="1700">
                <a:solidFill>
                  <a:srgbClr val="FF0000"/>
                </a:solidFill>
              </a:rPr>
              <a:t> ArithmeticException("Person is not eligible to vote");  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    		}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    		else {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        			System.out.println("Person is eligible to vote!!");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    			}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		}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		//main method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		public static void main(String args[]){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    			try{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    			validate(13);  }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                          catch(ArithmeticException e)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                          {    System.out.println(e);    }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    			System.out.println("rest of the code...");  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		}  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	}	</a:t>
            </a:r>
            <a:endParaRPr sz="1700">
              <a:solidFill>
                <a:srgbClr val="FF0000"/>
              </a:solidFill>
            </a:endParaRPr>
          </a:p>
        </p:txBody>
      </p:sp>
      <p:pic>
        <p:nvPicPr>
          <p:cNvPr id="276" name="Google Shape;276;g34e1308986f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7350" y="5937375"/>
            <a:ext cx="7557800" cy="1473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4e1308986f_0_66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Java throw Exception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4e1308986f_0_66"/>
          <p:cNvSpPr txBox="1"/>
          <p:nvPr/>
        </p:nvSpPr>
        <p:spPr>
          <a:xfrm>
            <a:off x="162750" y="538800"/>
            <a:ext cx="8762400" cy="5112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public class ThrowDemo {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	public static void Division()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	{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		int result=10/0;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		</a:t>
            </a:r>
            <a:r>
              <a:rPr lang="en-US" sz="1700">
                <a:solidFill>
                  <a:srgbClr val="0000FF"/>
                </a:solidFill>
              </a:rPr>
              <a:t>throw new </a:t>
            </a:r>
            <a:r>
              <a:rPr lang="en-US" sz="1700">
                <a:solidFill>
                  <a:srgbClr val="FF0000"/>
                </a:solidFill>
              </a:rPr>
              <a:t>ArithmeticException();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	}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	public static void main(String args[])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	{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		try {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    			Division();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			} catch (ArithmeticException e) {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    				System.out.println("Exception handled");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    				System.out.println(e.fillInStackTrace());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			}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	}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}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	</a:t>
            </a:r>
            <a:endParaRPr sz="1700">
              <a:solidFill>
                <a:srgbClr val="FF0000"/>
              </a:solidFill>
            </a:endParaRPr>
          </a:p>
        </p:txBody>
      </p:sp>
      <p:pic>
        <p:nvPicPr>
          <p:cNvPr id="283" name="Google Shape;283;g34e1308986f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750" y="5735325"/>
            <a:ext cx="6772275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4e1308986f_0_74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Java throw Exception: Throwing User-defined Exception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4e1308986f_0_74"/>
          <p:cNvSpPr txBox="1"/>
          <p:nvPr/>
        </p:nvSpPr>
        <p:spPr>
          <a:xfrm>
            <a:off x="162750" y="538800"/>
            <a:ext cx="8762400" cy="5112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class UserDefinedException extends Exception  {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	public UserDefinedException(String str)  	{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		// Calling constructor of parent Exception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		super(str);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	}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}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public class TestThrow3  {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	public static void main(String args[])  	{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	try  	{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    	// throw an object of user defined exception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    	throw new UserDefinedException("This is user-defined exception");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	}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	catch (UserDefinedException ude)      	{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    	System.out.println("Caught the exception");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    	System.out.println(ude.getMessage());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    	}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	}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}  </a:t>
            </a:r>
            <a:endParaRPr sz="1700">
              <a:solidFill>
                <a:srgbClr val="FF0000"/>
              </a:solidFill>
            </a:endParaRPr>
          </a:p>
        </p:txBody>
      </p:sp>
      <p:pic>
        <p:nvPicPr>
          <p:cNvPr id="290" name="Google Shape;290;g34e1308986f_0_74"/>
          <p:cNvPicPr preferRelativeResize="0"/>
          <p:nvPr/>
        </p:nvPicPr>
        <p:blipFill rotWithShape="1">
          <a:blip r:embed="rId3">
            <a:alphaModFix/>
          </a:blip>
          <a:srcRect b="0" l="0" r="0" t="29971"/>
          <a:stretch/>
        </p:blipFill>
        <p:spPr>
          <a:xfrm>
            <a:off x="970150" y="5696425"/>
            <a:ext cx="7589326" cy="79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515f07bb19_0_0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Java throws keyword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515f07bb19_0_0"/>
          <p:cNvSpPr txBox="1"/>
          <p:nvPr/>
        </p:nvSpPr>
        <p:spPr>
          <a:xfrm>
            <a:off x="260175" y="538800"/>
            <a:ext cx="89385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Used to declare an exception.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It gives an information to the programmer that there may occur an exception.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So, it is better for the programmer to provide the exception handling code so that the normal flow of the program can be maintained.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Exception Handling is mainly used to handle the checked exceptions.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97" name="Google Shape;297;g3515f07bb19_0_0"/>
          <p:cNvSpPr txBox="1"/>
          <p:nvPr/>
        </p:nvSpPr>
        <p:spPr>
          <a:xfrm>
            <a:off x="1572000" y="2981100"/>
            <a:ext cx="6815700" cy="23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Syntax: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0000FF"/>
                </a:solidFill>
              </a:rPr>
              <a:t>return_type </a:t>
            </a:r>
            <a:r>
              <a:rPr lang="en-US" sz="1800"/>
              <a:t>method_name()</a:t>
            </a:r>
            <a:r>
              <a:rPr lang="en-US" sz="1800">
                <a:solidFill>
                  <a:srgbClr val="0000FF"/>
                </a:solidFill>
              </a:rPr>
              <a:t> throws </a:t>
            </a:r>
            <a:r>
              <a:rPr lang="en-US" sz="1800">
                <a:solidFill>
                  <a:srgbClr val="FF0000"/>
                </a:solidFill>
              </a:rPr>
              <a:t>exception_class_name</a:t>
            </a:r>
            <a:r>
              <a:rPr lang="en-US" sz="1800">
                <a:solidFill>
                  <a:srgbClr val="0000FF"/>
                </a:solidFill>
              </a:rPr>
              <a:t>{  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0000FF"/>
                </a:solidFill>
              </a:rPr>
              <a:t>	//method code  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0000FF"/>
                </a:solidFill>
              </a:rPr>
              <a:t>	} 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15f07bb19_0_8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Java throw Exception: Throwing User-defined Exception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515f07bb19_0_8"/>
          <p:cNvSpPr txBox="1"/>
          <p:nvPr/>
        </p:nvSpPr>
        <p:spPr>
          <a:xfrm>
            <a:off x="162750" y="538800"/>
            <a:ext cx="8762400" cy="5100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	import java.io.*;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	class M{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				void method() throws IOException{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						throw new IOException("device error");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				}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	}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	public class Testthrows2{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		public static void main(String args[]){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			try{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				M m=new M();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				m.method();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			}catch(Exception e){System.out.println("exception handled:"+e);}	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	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				System.out.println("normal flow...");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		}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	}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10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515f07bb19_0_15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Java throw Exception: Throwing User-defined Exception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515f07bb19_0_15"/>
          <p:cNvSpPr txBox="1"/>
          <p:nvPr/>
        </p:nvSpPr>
        <p:spPr>
          <a:xfrm>
            <a:off x="162750" y="538800"/>
            <a:ext cx="8762400" cy="7709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public class TestThrows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	public static int divideNum(int m, int n) throws ArithmeticException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	if(n==0)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{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     throw new ArithmeticException(“</a:t>
            </a:r>
            <a:r>
              <a:rPr lang="en-US" sz="1800">
                <a:solidFill>
                  <a:srgbClr val="FF0000"/>
                </a:solidFill>
              </a:rPr>
              <a:t>Number cannot be divided by 0”);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} else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{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		int div = m / n;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		return div;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	}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}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public static void main(String[] args)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	TestThrows obj = new TestThrows();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		try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				System.out.println(obj.divideNum(45, 0));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			}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			catch (ArithmeticException e){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				System.out.println("Error message"+e);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			}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	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		System.out.println("Rest of the code..");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	}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}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10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515f07bb19_0_21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Java throws keyword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5" name="Google Shape;315;g3515f07bb19_0_21"/>
          <p:cNvGraphicFramePr/>
          <p:nvPr/>
        </p:nvGraphicFramePr>
        <p:xfrm>
          <a:off x="214000" y="72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{B2848B1C-07B9-4B01-89A9-20506C1756D9}</a:tableStyleId>
              </a:tblPr>
              <a:tblGrid>
                <a:gridCol w="382850"/>
                <a:gridCol w="1136200"/>
                <a:gridCol w="3577625"/>
                <a:gridCol w="3925075"/>
              </a:tblGrid>
              <a:tr h="361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S.N.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Basis of Differences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throw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throws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Definition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Java throw keyword is used throw an exception explicitly in the code, inside the function or the block of code.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Java throws keyword is used in the method signature to declare an exception which might be thrown by the function while the execution of the code.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Uses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Type of exception Using throw keyword, we can only propagate unchecked exception i.e., the checked exception cannot be propagated using throw only.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Using throws keyword, we can declare both checked and unchecked exceptions. However, the throws keyword can be used to propagate checked exceptions only.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Syntax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The throw keyword is followed by an instance of Exception to be thrown.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The throws keyword is followed by class names of Exceptions to be thrown.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Declaration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The keyword throw is used within the method.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The keyword throws is used with the method signature.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Internal Implementation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We are allowed to throw only one exception at a time i.e. we cannot throw multiple exceptions.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We can declare multiple exceptions using throws keyword that can be thrown by the method. For example, main() throws IOException, SQLException.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515f07bb19_0_29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File Handling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515f07bb19_0_29"/>
          <p:cNvSpPr txBox="1"/>
          <p:nvPr/>
        </p:nvSpPr>
        <p:spPr>
          <a:xfrm>
            <a:off x="260175" y="538800"/>
            <a:ext cx="893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 </a:t>
            </a:r>
            <a:r>
              <a:rPr lang="en-US" sz="1800">
                <a:solidFill>
                  <a:srgbClr val="0000FF"/>
                </a:solidFill>
              </a:rPr>
              <a:t>named location used to store related information</a:t>
            </a:r>
            <a:r>
              <a:rPr lang="en-US" sz="1800">
                <a:solidFill>
                  <a:schemeClr val="dk1"/>
                </a:solidFill>
              </a:rPr>
              <a:t> is known as a File.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322" name="Google Shape;322;g3515f07bb19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7300" y="1408037"/>
            <a:ext cx="5954350" cy="404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515f07bb19_0_40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Stream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515f07bb19_0_40"/>
          <p:cNvSpPr txBox="1"/>
          <p:nvPr/>
        </p:nvSpPr>
        <p:spPr>
          <a:xfrm>
            <a:off x="260175" y="538800"/>
            <a:ext cx="89385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 </a:t>
            </a:r>
            <a:r>
              <a:rPr lang="en-US" sz="1800">
                <a:solidFill>
                  <a:srgbClr val="0000FF"/>
                </a:solidFill>
              </a:rPr>
              <a:t>series of data </a:t>
            </a:r>
            <a:r>
              <a:rPr lang="en-US" sz="1800">
                <a:solidFill>
                  <a:schemeClr val="dk1"/>
                </a:solidFill>
              </a:rPr>
              <a:t>is referred to as a stream.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-US" sz="1800">
                <a:solidFill>
                  <a:srgbClr val="0000FF"/>
                </a:solidFill>
              </a:rPr>
              <a:t>Byte Stream</a:t>
            </a:r>
            <a:endParaRPr sz="1800">
              <a:solidFill>
                <a:srgbClr val="0000FF"/>
              </a:solidFill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Byte Stream is mainly involved with byte data.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A file handling process with a byte stream is a process in which an input is provided and executed with the byte data.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-US" sz="1800">
                <a:solidFill>
                  <a:srgbClr val="0000FF"/>
                </a:solidFill>
              </a:rPr>
              <a:t>Character Stream</a:t>
            </a:r>
            <a:endParaRPr sz="1800">
              <a:solidFill>
                <a:srgbClr val="0000FF"/>
              </a:solidFill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Character Stream is mainly involved with character data.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A file handling process with a character stream is a process in which an input is provided and executed with the character data.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515f07bb19_0_49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Java File Class Methods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4" name="Google Shape;334;g3515f07bb19_0_49"/>
          <p:cNvGraphicFramePr/>
          <p:nvPr/>
        </p:nvGraphicFramePr>
        <p:xfrm>
          <a:off x="193475" y="91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{B2848B1C-07B9-4B01-89A9-20506C1756D9}</a:tableStyleId>
              </a:tblPr>
              <a:tblGrid>
                <a:gridCol w="409175"/>
                <a:gridCol w="1609450"/>
                <a:gridCol w="927075"/>
                <a:gridCol w="59487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SN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Method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Return Type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Description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1.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canRead()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Boolean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The </a:t>
                      </a:r>
                      <a:r>
                        <a:rPr b="1" lang="en-US" sz="1300"/>
                        <a:t>canRead()</a:t>
                      </a:r>
                      <a:r>
                        <a:rPr lang="en-US" sz="1300"/>
                        <a:t> method is used to check whether we can read the data of the file or not.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2.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createNewFile()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Boolean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The </a:t>
                      </a:r>
                      <a:r>
                        <a:rPr b="1" lang="en-US" sz="1300"/>
                        <a:t>createNewFile()</a:t>
                      </a:r>
                      <a:r>
                        <a:rPr lang="en-US" sz="1300"/>
                        <a:t> method is used to create a new empty file.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3.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canWrite()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Boolean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The </a:t>
                      </a:r>
                      <a:r>
                        <a:rPr b="1" lang="en-US" sz="1300"/>
                        <a:t>canWrite()</a:t>
                      </a:r>
                      <a:r>
                        <a:rPr lang="en-US" sz="1300"/>
                        <a:t> method is used to check whether we can write the data into the file or not.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4.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exists()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Boolean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The </a:t>
                      </a:r>
                      <a:r>
                        <a:rPr b="1" lang="en-US" sz="1300"/>
                        <a:t>exists()</a:t>
                      </a:r>
                      <a:r>
                        <a:rPr lang="en-US" sz="1300"/>
                        <a:t> method is used to check whether the specified file is present or not.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5.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delete()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Boolean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The </a:t>
                      </a:r>
                      <a:r>
                        <a:rPr b="1" lang="en-US" sz="1300"/>
                        <a:t>delete()</a:t>
                      </a:r>
                      <a:r>
                        <a:rPr lang="en-US" sz="1300"/>
                        <a:t> method is used to delete a file.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6.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getName()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String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The </a:t>
                      </a:r>
                      <a:r>
                        <a:rPr b="1" lang="en-US" sz="1300"/>
                        <a:t>getName()</a:t>
                      </a:r>
                      <a:r>
                        <a:rPr lang="en-US" sz="1300"/>
                        <a:t> method is used to find the file name.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7.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getAbsolutePath()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String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The </a:t>
                      </a:r>
                      <a:r>
                        <a:rPr b="1" lang="en-US" sz="1300"/>
                        <a:t>getAbsolutePath()</a:t>
                      </a:r>
                      <a:r>
                        <a:rPr lang="en-US" sz="1300"/>
                        <a:t> method is used to get the absolute pathname of the file.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8.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length()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Long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The </a:t>
                      </a:r>
                      <a:r>
                        <a:rPr b="1" lang="en-US" sz="1300"/>
                        <a:t>length()</a:t>
                      </a:r>
                      <a:r>
                        <a:rPr lang="en-US" sz="1300"/>
                        <a:t> method is used to get the size of the file in bytes.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9.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list()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String[]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The </a:t>
                      </a:r>
                      <a:r>
                        <a:rPr b="1" lang="en-US" sz="1300"/>
                        <a:t>list()</a:t>
                      </a:r>
                      <a:r>
                        <a:rPr lang="en-US" sz="1300"/>
                        <a:t> method is used to get an array of the files available in the directory.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10.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mkdir()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Boolean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The </a:t>
                      </a:r>
                      <a:r>
                        <a:rPr b="1" lang="en-US" sz="1300"/>
                        <a:t>mkdir()</a:t>
                      </a:r>
                      <a:r>
                        <a:rPr lang="en-US" sz="1300"/>
                        <a:t> method is used for creating a new directory.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515f07bb19_0_62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Create a File:  </a:t>
            </a:r>
            <a:r>
              <a:rPr b="1" lang="en-US" sz="2300">
                <a:solidFill>
                  <a:srgbClr val="0000FF"/>
                </a:solidFill>
              </a:rPr>
              <a:t>createNewFile() method</a:t>
            </a:r>
            <a:endParaRPr b="1" i="0" sz="23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515f07bb19_0_62"/>
          <p:cNvSpPr txBox="1"/>
          <p:nvPr/>
        </p:nvSpPr>
        <p:spPr>
          <a:xfrm>
            <a:off x="162750" y="538800"/>
            <a:ext cx="8861400" cy="5389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import java.io.File;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import java.io.IOException;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class CreateFile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	public static void main(String args[])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	try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        	// Creating an object of a file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        	File f0 = new File("D:FileOperationExample.txt");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        	if (f0.createNewFile())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                   	System.out.println("File is created successfully.");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        	} else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                   	System.out.println("File is already exist in the directory.");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        	}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      	} catch (IOException exception)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               	System.out.println("An unexpected error is occurred.");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               	exception.printStackTrace();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          	}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    	}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} 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515f07bb19_0_69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Get File Information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515f07bb19_0_69"/>
          <p:cNvSpPr txBox="1"/>
          <p:nvPr/>
        </p:nvSpPr>
        <p:spPr>
          <a:xfrm>
            <a:off x="162750" y="538800"/>
            <a:ext cx="8861400" cy="64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import java.io.File;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class FileInfo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public static void main(String[] args)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File f0 = new File("D:FileOperationExample.txt");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if (f0.exists())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	System.out.println("The name of the file is: " + f0.getName());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	System.out.println("The absolute path of the file is: " + f0.getAbsolutePath());        		System.out.println("Is file writeable?: " + f0.canWrite());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	System.out.println("Is file readable " + f0.canRead());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	System.out.println("The size of the file in bytes is: " + f0.length());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} else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	System.out.println("The file does not exist.");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}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}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} 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515f07bb19_0_76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Write to a File: </a:t>
            </a:r>
            <a:r>
              <a:rPr b="1" lang="en-US" sz="2300">
                <a:solidFill>
                  <a:srgbClr val="0000FF"/>
                </a:solidFill>
              </a:rPr>
              <a:t>FileWriter class</a:t>
            </a:r>
            <a:endParaRPr b="1" i="0" sz="23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515f07bb19_0_76"/>
          <p:cNvSpPr txBox="1"/>
          <p:nvPr/>
        </p:nvSpPr>
        <p:spPr>
          <a:xfrm>
            <a:off x="162750" y="538800"/>
            <a:ext cx="8861400" cy="533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import java.io.FileWriter;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import java.io.IOException;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class WriteToFile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public static void main(String[] args)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try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FileWriter fwrite = new FileWriter("D:FileOperationExample.txt");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fwrite.write("A named location used to store related information is referred to as a File.");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fwrite.close();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System.out.println("Content is successfully wrote to the file.");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} catch (IOException e)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System.out.println("Unexpected error occurred");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e.printStackTrace();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}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}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} 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515f07bb19_0_83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Read from a File: </a:t>
            </a:r>
            <a:r>
              <a:rPr b="1" lang="en-US" sz="2300">
                <a:solidFill>
                  <a:srgbClr val="0000FF"/>
                </a:solidFill>
              </a:rPr>
              <a:t>Scanner class</a:t>
            </a:r>
            <a:endParaRPr b="1" i="0" sz="23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515f07bb19_0_83"/>
          <p:cNvSpPr txBox="1"/>
          <p:nvPr/>
        </p:nvSpPr>
        <p:spPr>
          <a:xfrm>
            <a:off x="162750" y="538800"/>
            <a:ext cx="8861400" cy="6372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import java.io.File;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import java.io.FileNotFoundException;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import java.util.Scanner;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	class ReadFromFile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public static void main(String[] args)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	try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	File f1 = new File("D:FileOperationExample.txt"); 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	Scanner dataReader = new Scanner(f1);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	while (dataReader.hasNextLine())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 	String fileData = dataReader.nextLine();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    	System.out.println(fileData);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	}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	dataReader.close();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	} catch (FileNotFoundException exception)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	System.out.println("Unexcpected error occurred!");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    	exception.printStackTrace();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    	}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  	}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} 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515f07bb19_0_90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Delete a File: </a:t>
            </a:r>
            <a:r>
              <a:rPr b="1" lang="en-US" sz="2300">
                <a:solidFill>
                  <a:srgbClr val="0000FF"/>
                </a:solidFill>
              </a:rPr>
              <a:t>delete() method</a:t>
            </a:r>
            <a:endParaRPr b="1" i="0" sz="23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515f07bb19_0_90"/>
          <p:cNvSpPr txBox="1"/>
          <p:nvPr/>
        </p:nvSpPr>
        <p:spPr>
          <a:xfrm>
            <a:off x="162750" y="538800"/>
            <a:ext cx="8861400" cy="4073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import java.io.File;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class DeleteFile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public static void main(String[] args) {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File f0 = new File("D:FileOperationExample.txt");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if (f0.delete()) {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	System.out.println(f0.getName()+ " file is deleted successfully.");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} else {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	System.out.println("Unexpected error found in deletion of the file.");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	}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  }  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}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