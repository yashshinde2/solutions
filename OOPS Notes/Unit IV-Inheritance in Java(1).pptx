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4" roundtripDataSignature="AMtx7mjwV36Q3osKHK/3SX68HsDthbxx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09DF8A-55DA-4C62-B825-0A5FBF38C436}">
  <a:tblStyle styleId="{0809DF8A-55DA-4C62-B825-0A5FBF38C43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9af9282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39af92823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9af92823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39af928235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9af92823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39af928235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9af92823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39af928235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9af92823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339af928235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c2b205a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3c2b205a8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c2b205a8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3c2b205a88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c2b205a8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3c2b205a88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c2b205a8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3c2b205a88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c2b205a8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3c2b205a88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c2b205a88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3c2b205a88_2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c2b205a8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3c2b205a88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c2b205a8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3c2b205a88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c2b205a8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3c2b205a88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3451d1b1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333451d1b1d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3451d1b1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33451d1b1d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3451d1b1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33451d1b1d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3451d1b1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33451d1b1d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3451d1b1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33451d1b1d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3451d1b1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33451d1b1d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33451d1b1d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33451d1b1d_0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33451d1b1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33451d1b1d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33451d1b1d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g333451d1b1d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33451d1b1d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g333451d1b1d_0_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3451d1b1d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333451d1b1d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33451d1b1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g333451d1b1d_0_2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33451d1b1d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g333451d1b1d_0_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3eaadde6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3eaadde67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3eaadde6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3eaadde678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3eaadde67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g33eaadde678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3eaadde67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g33eaadde678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33451d1b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g333451d1b1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33451d1b1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g333451d1b1d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33451d1b1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g333451d1b1d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33451d1b1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g333451d1b1d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33451d1b1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g333451d1b1d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33451d1b1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g333451d1b1d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33451d1b1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g333451d1b1d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33451d1b1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g333451d1b1d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eaadde67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g33eaadde678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eaadde67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g33eaadde678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3eaadde67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8" name="Google Shape;378;g33eaadde678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eaadde67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g33eaadde678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3b328fdb9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2" name="Google Shape;392;g33b328fdb9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3b328fdb9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8" name="Google Shape;398;g33b328fdb9f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3b328fdb9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5" name="Google Shape;405;g33b328fdb9f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3b328fdb9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g33b328fdb9f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7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9af928235_0_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Inheritance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39af928235_0_0"/>
          <p:cNvSpPr txBox="1"/>
          <p:nvPr/>
        </p:nvSpPr>
        <p:spPr>
          <a:xfrm>
            <a:off x="74700" y="538800"/>
            <a:ext cx="8938500" cy="57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the mechanism in Java by which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one class(child class)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allowed to inherit the features(fields and methods) of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another class(parent class). 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Inheritance means creating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new classes(child class)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based on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existing ones(parent class).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class that inherits from another class can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reuse the methods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fields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that class.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addition, you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can add new fields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methods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your current class as well.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Why use inheritance in java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Code Reusability: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code written in the Superclass is common to all subclasses. Child classes can directly use the parent class code.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Method Overriding: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Method Overriding is achievable only through Inheritance. It is one of the ways by which Java achieves Run Time Polymorphism.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Abstraction: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concept of abstract where we do not have to provide all details, is achieved through inheritance. Abstraction only shows the functionality to the user.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9af928235_0_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Inheritance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39af928235_0_9"/>
          <p:cNvSpPr txBox="1"/>
          <p:nvPr/>
        </p:nvSpPr>
        <p:spPr>
          <a:xfrm>
            <a:off x="74700" y="538800"/>
            <a:ext cx="8938500" cy="5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Syntax of Java Inheritance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class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Subclass/Derivedclass-name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extends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Superclass/Baseclass-name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{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		//methods and fields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extends keyword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indicates that you are making a new class that derives from an existing class.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meaning of "extends" is to increase the functionality.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use inheritance only if there exists an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is-a relationship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two classes.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 example,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 is a Vehicle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Orange is a Fruit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Surgeon is a Doctor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Dog is an Animal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9af928235_0_16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Inheritance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39af928235_0_16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39af928235_0_16"/>
          <p:cNvSpPr txBox="1"/>
          <p:nvPr/>
        </p:nvSpPr>
        <p:spPr>
          <a:xfrm>
            <a:off x="280500" y="538800"/>
            <a:ext cx="8581200" cy="628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Employee         // Base or Super Class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float salary=40000;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Programmer extends Employee    // Derived or Sub Class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 bonus=10000;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InheritanceDemo{                 		// Driver Class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void main(String args[])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Programmer p=new Programmer();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System.out.println("Programmer salary is:"+p.salary);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System.out.println("Bonus of Programmer is:"+p.bonus);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af928235_0_31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Inheritance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39af928235_0_31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39af928235_0_31"/>
          <p:cNvSpPr txBox="1"/>
          <p:nvPr/>
        </p:nvSpPr>
        <p:spPr>
          <a:xfrm>
            <a:off x="280500" y="538800"/>
            <a:ext cx="4616700" cy="586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Animal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String name;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public void eat()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System.out.println("I can eat");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Dog extends Animal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public void display()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System.out.println("My name is " + name);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39af928235_0_31"/>
          <p:cNvSpPr txBox="1"/>
          <p:nvPr/>
        </p:nvSpPr>
        <p:spPr>
          <a:xfrm>
            <a:off x="4966150" y="538800"/>
            <a:ext cx="4177800" cy="4202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Main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public static void main(String[] args)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Dog labrador = new Dog();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labrador.name = "Tommy";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labrador.display();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labrador.eat();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9af928235_0_3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Inheritance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39af928235_0_39"/>
          <p:cNvSpPr txBox="1"/>
          <p:nvPr/>
        </p:nvSpPr>
        <p:spPr>
          <a:xfrm>
            <a:off x="74700" y="538800"/>
            <a:ext cx="89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39af928235_0_39"/>
          <p:cNvSpPr txBox="1"/>
          <p:nvPr/>
        </p:nvSpPr>
        <p:spPr>
          <a:xfrm>
            <a:off x="280500" y="538800"/>
            <a:ext cx="4616700" cy="4617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Calculation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int z;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public void addition(int x, int y)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z = x + y;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System.out.println("Sum is:"+z);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public void Subtraction(int x, int y)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z = x - y;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System.out.println("Difference is:"+z);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39af928235_0_39"/>
          <p:cNvSpPr txBox="1"/>
          <p:nvPr/>
        </p:nvSpPr>
        <p:spPr>
          <a:xfrm>
            <a:off x="4966150" y="538800"/>
            <a:ext cx="4177800" cy="628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class My_Calculation extends Calculation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public void multiplication(int x, int y)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z = x * y;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System.out.println("Product is:"+z);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void main(String args[])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int a = 20, b = 10;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My_Calculation demo = new My_Calculation();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demo.addition(a, b);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demo.Subtraction(a, b);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demo.multiplication(a, b);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c2b205a88_0_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Types of Inheritance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3c2b205a88_0_0"/>
          <p:cNvSpPr txBox="1"/>
          <p:nvPr/>
        </p:nvSpPr>
        <p:spPr>
          <a:xfrm>
            <a:off x="74700" y="538800"/>
            <a:ext cx="8938500" cy="22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0005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inheritance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0005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Multi-level inheritance.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0005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inheritances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0005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Hierarchical Inheritance.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0005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Hybrid Inheritance.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c2b205a88_0_7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Types of Inheritance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3c2b205a88_0_7"/>
          <p:cNvSpPr txBox="1"/>
          <p:nvPr/>
        </p:nvSpPr>
        <p:spPr>
          <a:xfrm>
            <a:off x="74700" y="538800"/>
            <a:ext cx="8938500" cy="3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0005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inheritance: child class inherit properties and behavior from a single-parent class.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0005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Multi-level inheritance: a class extends to another class that is already extended from another class.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3c2b205a88_0_7"/>
          <p:cNvPicPr preferRelativeResize="0"/>
          <p:nvPr/>
        </p:nvPicPr>
        <p:blipFill rotWithShape="1">
          <a:blip r:embed="rId3">
            <a:alphaModFix/>
          </a:blip>
          <a:srcRect b="5091" l="0" r="0" t="43045"/>
          <a:stretch/>
        </p:blipFill>
        <p:spPr>
          <a:xfrm>
            <a:off x="3111900" y="1044250"/>
            <a:ext cx="2066100" cy="17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3c2b205a88_0_7"/>
          <p:cNvPicPr preferRelativeResize="0"/>
          <p:nvPr/>
        </p:nvPicPr>
        <p:blipFill rotWithShape="1">
          <a:blip r:embed="rId3">
            <a:alphaModFix/>
          </a:blip>
          <a:srcRect b="5597" l="0" r="0" t="0"/>
          <a:stretch/>
        </p:blipFill>
        <p:spPr>
          <a:xfrm>
            <a:off x="3001075" y="3274450"/>
            <a:ext cx="2066100" cy="321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c2b205a88_0_18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Types of Inheritance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3c2b205a88_0_18"/>
          <p:cNvSpPr txBox="1"/>
          <p:nvPr/>
        </p:nvSpPr>
        <p:spPr>
          <a:xfrm>
            <a:off x="74700" y="538800"/>
            <a:ext cx="8938500" cy="4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0005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inheritance: child class inherit properties and behavior from a multiple parent class. Java does not support multiple inheritances with classes. In Java, we can achieve multiple inheritances only through Interfaces.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0005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0005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Hierarchical Inheritance: many subclasses derive from a single class.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g33c2b205a88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9675" y="1621800"/>
            <a:ext cx="3772025" cy="1870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3c2b205a88_0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7400" y="4046375"/>
            <a:ext cx="5129199" cy="23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c2b205a88_0_32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Types of Inheritance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3c2b205a88_0_32"/>
          <p:cNvSpPr txBox="1"/>
          <p:nvPr/>
        </p:nvSpPr>
        <p:spPr>
          <a:xfrm>
            <a:off x="74700" y="538800"/>
            <a:ext cx="8938500" cy="28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0005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Hybrid Inheritance: a combination of all inheritances.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g33c2b205a88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2875" y="1519050"/>
            <a:ext cx="5588001" cy="35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c2b205a88_0_43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Single Inheritance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3c2b205a88_0_43"/>
          <p:cNvSpPr txBox="1"/>
          <p:nvPr/>
        </p:nvSpPr>
        <p:spPr>
          <a:xfrm>
            <a:off x="63475" y="496800"/>
            <a:ext cx="4616700" cy="586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Animal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void eat()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System.out.println("Animal is eating");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Subclass (Single Inheritance)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Dog extends Animal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void bark()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System.out.println("Dog is barking");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3c2b205a88_0_43"/>
          <p:cNvSpPr txBox="1"/>
          <p:nvPr/>
        </p:nvSpPr>
        <p:spPr>
          <a:xfrm>
            <a:off x="4773425" y="496800"/>
            <a:ext cx="4370700" cy="503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class Main 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void main(String[] args) 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Dog myDog = new Dog();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	 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// Accessing superclass method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myDog.eat();    	 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// Accessing subclass method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myDog.bark(); 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c2b205a88_25_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Using Super() and Subclass Constructors in Single Inheritance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3c2b205a88_25_0"/>
          <p:cNvSpPr txBox="1"/>
          <p:nvPr/>
        </p:nvSpPr>
        <p:spPr>
          <a:xfrm>
            <a:off x="193750" y="1746850"/>
            <a:ext cx="3947100" cy="4571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Animal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String sound;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Animal(String sound)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this.sound = sound;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void makeSound()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System.out.println("Animal makes a sound: " + sound);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3c2b205a88_25_0"/>
          <p:cNvSpPr txBox="1"/>
          <p:nvPr/>
        </p:nvSpPr>
        <p:spPr>
          <a:xfrm>
            <a:off x="4140850" y="496800"/>
            <a:ext cx="5003400" cy="634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Dog extends Animal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String breed;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Dog(String sound, String breed)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super(sound); // Invoking superclass constructor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this.breed = breed;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void displayInfo()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System.out.println("Dog breed: " + breed);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Main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static void main(String[] args)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Dog myDog = new Dog("Woof", "Labrador");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myDog.makeSound(); // Inherited from Animal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myDog.displayInfo();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3c2b205a88_25_0"/>
          <p:cNvSpPr txBox="1"/>
          <p:nvPr/>
        </p:nvSpPr>
        <p:spPr>
          <a:xfrm>
            <a:off x="98200" y="598975"/>
            <a:ext cx="3903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super() keyword is used in a subclass constructor to invoke the constructor of its superclass.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c2b205a88_0_53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Multi-level Inheritance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3c2b205a88_0_53"/>
          <p:cNvSpPr txBox="1"/>
          <p:nvPr/>
        </p:nvSpPr>
        <p:spPr>
          <a:xfrm>
            <a:off x="63475" y="496800"/>
            <a:ext cx="4616700" cy="628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Parent class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Animal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void eat()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System.out.println("Animal is eating");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Child class inheriting from Animal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Dog extends Animal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void bark()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System.out.println("Dog is barking");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3c2b205a88_0_53"/>
          <p:cNvSpPr txBox="1"/>
          <p:nvPr/>
        </p:nvSpPr>
        <p:spPr>
          <a:xfrm>
            <a:off x="4773425" y="496800"/>
            <a:ext cx="4370700" cy="6303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Sub-child class inheriting from Dog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Labrador extends Dog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void display()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System.out.println("Labrador is a type of Dog");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class Main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public static void main(String[] args) {    	Labrador labrador = new Labrador();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labrador.eat(); 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// Inherited from Animal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labrador.bark(); 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Inherited from Dog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labrador.display(); </a:t>
            </a:r>
            <a:r>
              <a:rPr b="0" i="0" lang="en-US" sz="1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Defined in Labrador</a:t>
            </a:r>
            <a:endParaRPr b="0" i="0" sz="1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c2b205a88_0_63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Hierarchical Inheritance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3c2b205a88_0_63"/>
          <p:cNvSpPr txBox="1"/>
          <p:nvPr/>
        </p:nvSpPr>
        <p:spPr>
          <a:xfrm>
            <a:off x="63475" y="496800"/>
            <a:ext cx="4616700" cy="6303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 Parent class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Animal 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void eat() 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System.out.println("Animal is eating");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Child class 1 inheriting from Animal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Dog extends Animal 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void bark() 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System.out.println("Dog is barking");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Child class 2 inheriting from Animal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Tiger extends Animal 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void roar() 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System.out.println("Tiger is roaring");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3c2b205a88_0_63"/>
          <p:cNvSpPr txBox="1"/>
          <p:nvPr/>
        </p:nvSpPr>
        <p:spPr>
          <a:xfrm>
            <a:off x="4773425" y="496800"/>
            <a:ext cx="4370700" cy="628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class Main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public static void main(String[] args)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Dog dog = new Dog();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dog.eat();   // Inherited from Animal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dog.bark();  // Defined in Dog class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Tiger tiger = new Tiger();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tiger.eat();   // Inherited from Animal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tiger.roar();  // Defined in Cat class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c2b205a88_0_74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Multiple Inheritance in Java: </a:t>
            </a:r>
            <a:r>
              <a:rPr b="1" i="0" lang="en-US" sz="23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NOT Supported</a:t>
            </a: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Diamond Problem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3c2b205a88_0_74"/>
          <p:cNvSpPr txBox="1"/>
          <p:nvPr/>
        </p:nvSpPr>
        <p:spPr>
          <a:xfrm>
            <a:off x="63475" y="954900"/>
            <a:ext cx="3851700" cy="5895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 Parent class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Animal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void eat()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System.out.println("Animal is eating");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Child class 1 inheriting from Animal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Dog extends Animal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void bark()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System.out.println("Dog is barking");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Child class 2 inheriting from Animal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Tiger extends Animal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void roar()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System.out.println("Tiger is roaring");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3c2b205a88_0_74"/>
          <p:cNvSpPr txBox="1"/>
          <p:nvPr/>
        </p:nvSpPr>
        <p:spPr>
          <a:xfrm>
            <a:off x="4088750" y="954900"/>
            <a:ext cx="5055300" cy="540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Hybrid class inheriting from both Dog and Tiger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Hybrid extends Dog, Tiger { // Error: Multiple inheritance not supported in Java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void hybridBehavior() {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System.out.println("Hybrid behavior");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3c2b205a88_0_74"/>
          <p:cNvSpPr txBox="1"/>
          <p:nvPr/>
        </p:nvSpPr>
        <p:spPr>
          <a:xfrm>
            <a:off x="104175" y="425350"/>
            <a:ext cx="882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It occurs when a class inherits from two classes that have a common ancestor.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33451d1b1d_0_8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Method Overriding in Java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33451d1b1d_0_80"/>
          <p:cNvSpPr txBox="1"/>
          <p:nvPr/>
        </p:nvSpPr>
        <p:spPr>
          <a:xfrm>
            <a:off x="0" y="2196450"/>
            <a:ext cx="3851700" cy="4571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Animal 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void makeSound() 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System.out.println("The animal makes a sound");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Child class overriding the method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Dog extends Animal 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@Override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void makeSound() 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System.out.println("The dog barks”);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33451d1b1d_0_80"/>
          <p:cNvSpPr txBox="1"/>
          <p:nvPr/>
        </p:nvSpPr>
        <p:spPr>
          <a:xfrm>
            <a:off x="3931100" y="2196450"/>
            <a:ext cx="5055300" cy="3532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Main class to test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class MethodOverrideDemo 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static void main(String[] args) {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Animal myAnimal = new Animal();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Animal myDog = new Dog();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myAnimal.makeSound();  // Outputs: The animal makes a sound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myDog.makeSound();     // Outputs: The dog barks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33451d1b1d_0_80"/>
          <p:cNvSpPr txBox="1"/>
          <p:nvPr/>
        </p:nvSpPr>
        <p:spPr>
          <a:xfrm>
            <a:off x="104175" y="425350"/>
            <a:ext cx="8882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Allows a subclass to provide a specific implementation of a method that's already defined in its parent class. 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When a subclass defines a method with the same name, return type, and parameters as a method in its superclass, the subclass method overrides the superclass method. 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When that method is called on an object of the subclass, the overridden version executes instead of the superclass version.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3451d1b1d_0_93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Method Overriding in Java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33451d1b1d_0_93"/>
          <p:cNvSpPr txBox="1"/>
          <p:nvPr/>
        </p:nvSpPr>
        <p:spPr>
          <a:xfrm>
            <a:off x="104175" y="425350"/>
            <a:ext cx="88821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Important Rules for Method Overriding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The method in the subclass must have the same name as in the superclass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The method must have the same parameter list (same number, type and order)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The return type must be the same or a subtype of the return type in the superclass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The access level cannot be more restrictive than the overridden method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Only inherited methods can be overridden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Constructors cannot be overridden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Private methods cannot be overridden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Final methods cannot be overridden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Static methods cannot be overridden (they can be hidden)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@Override Annotation</a:t>
            </a:r>
            <a:endParaRPr b="1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The @Override annotation is optional but recommended. 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It tells the compiler that you intend to override a method in the superclass. 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If the method doesn't correctly override a superclass method, the compiler will generate an error.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33451d1b1d_0_105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Method Overriding vs. Method Overloading in Java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33451d1b1d_0_105"/>
          <p:cNvSpPr txBox="1"/>
          <p:nvPr/>
        </p:nvSpPr>
        <p:spPr>
          <a:xfrm>
            <a:off x="104175" y="425350"/>
            <a:ext cx="8882100" cy="4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Method Overriding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Method overriding occurs when a subclass provides a specific implementation of a method already defined in its parent class.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Key Characteristics of Method Overriding:</a:t>
            </a:r>
            <a:endParaRPr b="1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Occurs between superclass and subclass (inheritance relationship required)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Method signature (name and parameters) must be exactly the same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Return type must be the same or a subtype (covariant return)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Access modifier cannot be more restrictive than in the parent method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Decided at runtime (dynamic binding/late binding)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Used to provide specific implementation of a method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3451d1b1d_0_115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Method Overriding vs. Method Overloading in Java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33451d1b1d_0_115"/>
          <p:cNvSpPr txBox="1"/>
          <p:nvPr/>
        </p:nvSpPr>
        <p:spPr>
          <a:xfrm>
            <a:off x="104175" y="425350"/>
            <a:ext cx="8882100" cy="4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Method Overloading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Method overloading occurs when multiple methods in the same class have the same name but different parameters.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Key Characteristics of Method Overloading:</a:t>
            </a:r>
            <a:endParaRPr b="1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Occurs within the same class or in a child class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Method name must be the same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Parameter list must be different (different number, type, or order)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Return type can be different (not considered for method signature)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Decided at compile time (static binding/early binding)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Used to increase readability and provide different ways to call a method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33451d1b1d_0_125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Method Overriding vs. Method Overloading in Java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2" name="Google Shape;212;g333451d1b1d_0_125"/>
          <p:cNvGraphicFramePr/>
          <p:nvPr/>
        </p:nvGraphicFramePr>
        <p:xfrm>
          <a:off x="388900" y="117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{0809DF8A-55DA-4C62-B825-0A5FBF38C436}</a:tableStyleId>
              </a:tblPr>
              <a:tblGrid>
                <a:gridCol w="1819250"/>
                <a:gridCol w="3079850"/>
                <a:gridCol w="2893625"/>
              </a:tblGrid>
              <a:tr h="5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0000"/>
                          </a:solidFill>
                        </a:rPr>
                        <a:t>Feature</a:t>
                      </a:r>
                      <a:endParaRPr b="1"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0000"/>
                          </a:solidFill>
                        </a:rPr>
                        <a:t>Method Overriding</a:t>
                      </a:r>
                      <a:endParaRPr b="1"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0000"/>
                          </a:solidFill>
                        </a:rPr>
                        <a:t>Method Overloading</a:t>
                      </a:r>
                      <a:endParaRPr b="1"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FF"/>
                          </a:solidFill>
                        </a:rPr>
                        <a:t>Purpose</a:t>
                      </a:r>
                      <a:endParaRPr sz="16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To change existing behavior</a:t>
                      </a:r>
                      <a:endParaRPr sz="16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To add new behavior</a:t>
                      </a:r>
                      <a:endParaRPr sz="16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FF"/>
                          </a:solidFill>
                        </a:rPr>
                        <a:t>Inheritance</a:t>
                      </a:r>
                      <a:endParaRPr sz="16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Required</a:t>
                      </a:r>
                      <a:endParaRPr sz="16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Not required</a:t>
                      </a:r>
                      <a:endParaRPr sz="16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FF"/>
                          </a:solidFill>
                        </a:rPr>
                        <a:t>Method signature</a:t>
                      </a:r>
                      <a:endParaRPr sz="16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Must be the same</a:t>
                      </a:r>
                      <a:endParaRPr sz="16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Must have different parameters</a:t>
                      </a:r>
                      <a:endParaRPr sz="16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FF"/>
                          </a:solidFill>
                        </a:rPr>
                        <a:t>Return type</a:t>
                      </a:r>
                      <a:endParaRPr sz="16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Same or covariant</a:t>
                      </a:r>
                      <a:endParaRPr sz="16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Can be different</a:t>
                      </a:r>
                      <a:endParaRPr sz="16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FF"/>
                          </a:solidFill>
                        </a:rPr>
                        <a:t>Access modifier</a:t>
                      </a:r>
                      <a:endParaRPr sz="16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Cannot be more restrictive</a:t>
                      </a:r>
                      <a:endParaRPr sz="16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Can be different</a:t>
                      </a:r>
                      <a:endParaRPr sz="16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FF"/>
                          </a:solidFill>
                        </a:rPr>
                        <a:t>Binding</a:t>
                      </a:r>
                      <a:endParaRPr sz="16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Runtime (dynamic)</a:t>
                      </a:r>
                      <a:endParaRPr sz="16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Compile time (static)</a:t>
                      </a:r>
                      <a:endParaRPr sz="16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FF"/>
                          </a:solidFill>
                        </a:rPr>
                        <a:t>Exception handling</a:t>
                      </a:r>
                      <a:endParaRPr sz="16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Cannot throw broader exceptions</a:t>
                      </a:r>
                      <a:endParaRPr sz="16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No such restriction</a:t>
                      </a:r>
                      <a:endParaRPr sz="16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33451d1b1d_0_132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Using the "super" Keyword with Overridden Methods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33451d1b1d_0_132"/>
          <p:cNvSpPr txBox="1"/>
          <p:nvPr/>
        </p:nvSpPr>
        <p:spPr>
          <a:xfrm>
            <a:off x="104175" y="425350"/>
            <a:ext cx="8882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super</a:t>
            </a: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keyword in Java is used to refer to the </a:t>
            </a: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superclass (parent class)</a:t>
            </a: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When working with method overriding, super is particularly useful for accessing the parent class's version of an overridden method.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33451d1b1d_0_132"/>
          <p:cNvSpPr txBox="1"/>
          <p:nvPr/>
        </p:nvSpPr>
        <p:spPr>
          <a:xfrm>
            <a:off x="2029800" y="1693925"/>
            <a:ext cx="5902200" cy="4494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Parent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void display()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System.out.println("Parent's display method");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Child extends Parent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@Override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void display()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super.display();  // Calls the parent class method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System.out.println("Child's display method");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33451d1b1d_0_142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Common Use Cases for super with Overridden Methods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33451d1b1d_0_142"/>
          <p:cNvSpPr txBox="1"/>
          <p:nvPr/>
        </p:nvSpPr>
        <p:spPr>
          <a:xfrm>
            <a:off x="104175" y="425350"/>
            <a:ext cx="8882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1. Extending Functionality</a:t>
            </a:r>
            <a:endParaRPr b="1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extend the functionality of the parent method without completely replacing it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33451d1b1d_0_142"/>
          <p:cNvSpPr txBox="1"/>
          <p:nvPr/>
        </p:nvSpPr>
        <p:spPr>
          <a:xfrm>
            <a:off x="608825" y="1352625"/>
            <a:ext cx="8329800" cy="4863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Animal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void eat()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System.out.println("Animal is eating");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Dog extends Animal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@Override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void eat()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super.eat();  // Perform the general eating behavior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System.out.println("Dog is eating a bone");  // Add dog-specific behavior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33451d1b1d_0_153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Common Use Cases for super with Overridden Methods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33451d1b1d_0_153"/>
          <p:cNvSpPr txBox="1"/>
          <p:nvPr/>
        </p:nvSpPr>
        <p:spPr>
          <a:xfrm>
            <a:off x="104175" y="425350"/>
            <a:ext cx="888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0000"/>
                </a:solidFill>
              </a:rPr>
              <a:t>2</a:t>
            </a: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Constructors and super</a:t>
            </a:r>
            <a:endParaRPr b="1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super is commonly used in constructors to call the parent constructor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33451d1b1d_0_153"/>
          <p:cNvSpPr txBox="1"/>
          <p:nvPr/>
        </p:nvSpPr>
        <p:spPr>
          <a:xfrm>
            <a:off x="147900" y="1533550"/>
            <a:ext cx="3777900" cy="476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Vehicle {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protected String brand;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Vehicle(String brand) {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this.brand = brand;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33451d1b1d_0_153"/>
          <p:cNvSpPr txBox="1"/>
          <p:nvPr/>
        </p:nvSpPr>
        <p:spPr>
          <a:xfrm>
            <a:off x="4267150" y="1533550"/>
            <a:ext cx="4930500" cy="4371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Car extends Vehicle {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private String model;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Car(String brand, String model) {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super(brand);  // Call parent constructor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this.model = model;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3451d1b1d_0_167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Important Points About super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33451d1b1d_0_167"/>
          <p:cNvSpPr txBox="1"/>
          <p:nvPr/>
        </p:nvSpPr>
        <p:spPr>
          <a:xfrm>
            <a:off x="102900" y="538800"/>
            <a:ext cx="88821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super must be the first statement in a constructor if used</a:t>
            </a:r>
            <a:endParaRPr b="0" i="0" sz="19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super cannot be used in static methods</a:t>
            </a:r>
            <a:endParaRPr b="0" i="0" sz="19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super refers to the immediate parent class, not any further ancestors</a:t>
            </a:r>
            <a:endParaRPr b="0" i="0" sz="19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You cannot use super to access private members of the parent class</a:t>
            </a:r>
            <a:endParaRPr b="0" i="0" sz="19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Using super is optional when overriding methods unless you want to call the parent's implementation</a:t>
            </a:r>
            <a:endParaRPr b="0" i="0" sz="19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33451d1b1d_0_176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Runtime Polymorphism and Dynamic Method Dispatch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33451d1b1d_0_176"/>
          <p:cNvSpPr txBox="1"/>
          <p:nvPr/>
        </p:nvSpPr>
        <p:spPr>
          <a:xfrm>
            <a:off x="104175" y="425350"/>
            <a:ext cx="88821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Runtime Polymorphism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Runtime polymorphism allows an object to behave differently based on the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runtime type of the object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rather than the compile-time type of the reference. 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This means the JVM determines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which method to call at runtime.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Key Concept: Reference Type vs. Object Type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Reference Type: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The declared type of a variable (left side of assignment)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Object Type: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The actual type of the object being referenced (right side of assignment)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33451d1b1d_0_176"/>
          <p:cNvSpPr txBox="1"/>
          <p:nvPr/>
        </p:nvSpPr>
        <p:spPr>
          <a:xfrm>
            <a:off x="784025" y="3912750"/>
            <a:ext cx="784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Animal</a:t>
            </a:r>
            <a:r>
              <a:rPr b="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myPet = new </a:t>
            </a:r>
            <a:r>
              <a:rPr b="0" i="1" lang="en-US" sz="18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Dog()</a:t>
            </a:r>
            <a:r>
              <a:rPr b="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; // </a:t>
            </a:r>
            <a:r>
              <a:rPr b="0" i="1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Reference type</a:t>
            </a:r>
            <a:r>
              <a:rPr b="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is Animal, </a:t>
            </a:r>
            <a:r>
              <a:rPr b="0" i="1" lang="en-US" sz="1800" u="none" cap="none" strike="noStrik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Object type</a:t>
            </a:r>
            <a:r>
              <a:rPr b="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is Dog</a:t>
            </a:r>
            <a:endParaRPr b="0" i="1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33451d1b1d_0_18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Runtime Polymorphism and Dynamic Method Dispatch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33451d1b1d_0_189"/>
          <p:cNvSpPr txBox="1"/>
          <p:nvPr/>
        </p:nvSpPr>
        <p:spPr>
          <a:xfrm>
            <a:off x="104175" y="425350"/>
            <a:ext cx="88821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Dynamic Method Dispatch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Mechanism used to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implement runtime polymorphism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in Java. 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determines which version of an overridden method will be executed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based on the object type (not reference type) at runtime.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33451d1b1d_0_189"/>
          <p:cNvSpPr txBox="1"/>
          <p:nvPr/>
        </p:nvSpPr>
        <p:spPr>
          <a:xfrm>
            <a:off x="256300" y="2193725"/>
            <a:ext cx="4098900" cy="4494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Animal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void makeSound()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System.out.println("Animal makes a sound");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Dog extends Animal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@Override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void makeSound()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System.out.println("Dog barks");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33451d1b1d_0_189"/>
          <p:cNvSpPr txBox="1"/>
          <p:nvPr/>
        </p:nvSpPr>
        <p:spPr>
          <a:xfrm>
            <a:off x="4572000" y="2193725"/>
            <a:ext cx="4424100" cy="4494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Cat extends Animal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@Override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void makeSound()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System.out.println("Cat meows");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3451d1b1d_0_20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Runtime Polymorphism and Dynamic Method Dispatch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33451d1b1d_0_209"/>
          <p:cNvSpPr txBox="1"/>
          <p:nvPr/>
        </p:nvSpPr>
        <p:spPr>
          <a:xfrm>
            <a:off x="104175" y="425350"/>
            <a:ext cx="88821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Dynamic Method Dispatch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33451d1b1d_0_209"/>
          <p:cNvSpPr txBox="1"/>
          <p:nvPr/>
        </p:nvSpPr>
        <p:spPr>
          <a:xfrm>
            <a:off x="224300" y="956525"/>
            <a:ext cx="8257200" cy="5156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class Main {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static void main(String[] args) {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// Reference type is Animal, but actual objects are different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Animal animal1 = new Animal();  // Animal reference, Animal object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Animal animal2 = new Dog();     // Animal reference, Dog object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Animal animal3 = new Cat();     // Animal reference, Cat object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animal1.makeSound();  // Outputs: Animal makes a sound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animal2.makeSound();  // Outputs: Dog barks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animal3.makeSound();  // Outputs: Cat meows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33451d1b1d_0_218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Runtime Polymorphism and Dynamic Method Dispatch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33451d1b1d_0_218"/>
          <p:cNvSpPr txBox="1"/>
          <p:nvPr/>
        </p:nvSpPr>
        <p:spPr>
          <a:xfrm>
            <a:off x="104175" y="425350"/>
            <a:ext cx="88821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How Dynamic Method Dispatch Works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When a method is called through a reference variable, Java first checks the type of the reference variable (compile-time type).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Java checks if the method exists in that class. If not, compilation fails.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At runtime, JVM determines the actual object type the reference is pointing to.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JVM looks for an overridden version of the method in the actual object's class.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If an overridden version exists, that method is executed; otherwise, the parent class's method is executed.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Benefits of Dynamic Method Dispatch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Code Flexibility: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Allows writing code that can work with current and future subclasses.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Extensibility: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New subclasses can be added without changing existing code.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3eaadde678_0_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Final Methods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3eaadde678_0_0"/>
          <p:cNvSpPr txBox="1"/>
          <p:nvPr/>
        </p:nvSpPr>
        <p:spPr>
          <a:xfrm>
            <a:off x="104175" y="425350"/>
            <a:ext cx="88821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 final method in Java is a method that cannot be overridden by subclasses. 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When a method is declared as final, it means its implementation is "final" and cannot be changed by any subclasses.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3eaadde678_0_0"/>
          <p:cNvSpPr txBox="1"/>
          <p:nvPr/>
        </p:nvSpPr>
        <p:spPr>
          <a:xfrm>
            <a:off x="1251400" y="1831075"/>
            <a:ext cx="6247200" cy="412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Parent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// This method cannot be overridden by any subclass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final void showDetails()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System.out.println("This is a final method");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Child extends Parent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void showDetails() {     // This will cause a compilation error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	System.out.println("Attempting to override final method");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3eaadde678_0_12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Static Methods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3eaadde678_0_12"/>
          <p:cNvSpPr txBox="1"/>
          <p:nvPr/>
        </p:nvSpPr>
        <p:spPr>
          <a:xfrm>
            <a:off x="104175" y="425350"/>
            <a:ext cx="88821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Static methods belong to the class rather than to any specific instance. 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They cannot be overridden in the traditional sense, but they can be hidden by declaring a static method with the same signature in the subclass.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3eaadde678_0_12"/>
          <p:cNvSpPr txBox="1"/>
          <p:nvPr/>
        </p:nvSpPr>
        <p:spPr>
          <a:xfrm>
            <a:off x="149650" y="1809725"/>
            <a:ext cx="8575800" cy="476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Parent {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static void display() {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System.out.println("Static method from Parent");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Child extends Parent {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// This is method hiding, not overriding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static void display() {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System.out.println("Static method from Child");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3eaadde678_0_24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Static Methods in Java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3eaadde678_0_24"/>
          <p:cNvSpPr txBox="1"/>
          <p:nvPr/>
        </p:nvSpPr>
        <p:spPr>
          <a:xfrm>
            <a:off x="104175" y="425350"/>
            <a:ext cx="88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3eaadde678_0_24"/>
          <p:cNvSpPr txBox="1"/>
          <p:nvPr/>
        </p:nvSpPr>
        <p:spPr>
          <a:xfrm>
            <a:off x="170975" y="689850"/>
            <a:ext cx="8575800" cy="476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class Main {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public static void main(String[] args) {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Parent p = new Parent();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Child c = new Child();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Parent pc = new Child();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	 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p.display();	// Output: Static method from Parent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c.display();	// Output: Static method from Child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pc.display();   // Output: Static method from Parent (method hiding)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  	// With true overriding, this would call Child's method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3eaadde678_0_76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Covariant Return Types in Method Overriding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3eaadde678_0_76"/>
          <p:cNvSpPr txBox="1"/>
          <p:nvPr/>
        </p:nvSpPr>
        <p:spPr>
          <a:xfrm>
            <a:off x="104175" y="425350"/>
            <a:ext cx="88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3eaadde678_0_76"/>
          <p:cNvSpPr txBox="1"/>
          <p:nvPr/>
        </p:nvSpPr>
        <p:spPr>
          <a:xfrm>
            <a:off x="205600" y="2015600"/>
            <a:ext cx="4083000" cy="476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0000"/>
                </a:solidFill>
              </a:rPr>
              <a:t>class A{    </a:t>
            </a:r>
            <a:endParaRPr sz="1700">
              <a:solidFill>
                <a:srgbClr val="FF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0000"/>
                </a:solidFill>
              </a:rPr>
              <a:t>A get() {</a:t>
            </a:r>
            <a:endParaRPr sz="1700">
              <a:solidFill>
                <a:srgbClr val="FF0000"/>
              </a:solidFill>
            </a:endParaRPr>
          </a:p>
          <a:p>
            <a:pPr indent="457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0000"/>
                </a:solidFill>
              </a:rPr>
              <a:t>return this;</a:t>
            </a:r>
            <a:endParaRPr sz="1700">
              <a:solidFill>
                <a:srgbClr val="FF0000"/>
              </a:solidFill>
            </a:endParaRPr>
          </a:p>
          <a:p>
            <a:pPr indent="457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0000"/>
                </a:solidFill>
              </a:rPr>
              <a:t>}    </a:t>
            </a:r>
            <a:endParaRPr sz="1700">
              <a:solidFill>
                <a:srgbClr val="FF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0000"/>
                </a:solidFill>
              </a:rPr>
              <a:t>}  </a:t>
            </a:r>
            <a:endParaRPr sz="1700">
              <a:solidFill>
                <a:srgbClr val="FF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0000"/>
                </a:solidFill>
              </a:rPr>
              <a:t>class B1 extends A{    </a:t>
            </a:r>
            <a:endParaRPr sz="1700">
              <a:solidFill>
                <a:srgbClr val="FF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0000"/>
                </a:solidFill>
              </a:rPr>
              <a:t>@Override  </a:t>
            </a:r>
            <a:endParaRPr sz="1700">
              <a:solidFill>
                <a:srgbClr val="FF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0000"/>
                </a:solidFill>
              </a:rPr>
              <a:t>B1 get()	{	return this;	}    </a:t>
            </a:r>
            <a:endParaRPr sz="1700">
              <a:solidFill>
                <a:srgbClr val="FF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0000"/>
                </a:solidFill>
              </a:rPr>
              <a:t>void message() {</a:t>
            </a:r>
            <a:endParaRPr sz="1700">
              <a:solidFill>
                <a:srgbClr val="FF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0000"/>
                </a:solidFill>
              </a:rPr>
              <a:t>System.out.println("welcome to covariant return type");</a:t>
            </a:r>
            <a:endParaRPr sz="1700">
              <a:solidFill>
                <a:srgbClr val="FF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0000"/>
                </a:solidFill>
              </a:rPr>
              <a:t>}    </a:t>
            </a:r>
            <a:endParaRPr sz="1700">
              <a:solidFill>
                <a:srgbClr val="FF0000"/>
              </a:solidFill>
            </a:endParaRPr>
          </a:p>
        </p:txBody>
      </p:sp>
      <p:sp>
        <p:nvSpPr>
          <p:cNvPr id="297" name="Google Shape;297;g33eaadde678_0_76"/>
          <p:cNvSpPr txBox="1"/>
          <p:nvPr/>
        </p:nvSpPr>
        <p:spPr>
          <a:xfrm>
            <a:off x="130950" y="346525"/>
            <a:ext cx="88821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 method overriding, the traditional rule is that the overriding method must have the same return type as the overridden method. 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However, with covariant return types, the return type of the overriding method can be a subclass of the return type of the overridden method.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3eaadde678_0_76"/>
          <p:cNvSpPr txBox="1"/>
          <p:nvPr/>
        </p:nvSpPr>
        <p:spPr>
          <a:xfrm>
            <a:off x="4357625" y="2229375"/>
            <a:ext cx="4730400" cy="2016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0000"/>
                </a:solidFill>
              </a:rPr>
              <a:t>public static void main(String args[]){    </a:t>
            </a:r>
            <a:endParaRPr sz="1700">
              <a:solidFill>
                <a:srgbClr val="FF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0000"/>
                </a:solidFill>
              </a:rPr>
              <a:t>new B1().get().message();    </a:t>
            </a:r>
            <a:endParaRPr sz="1700">
              <a:solidFill>
                <a:srgbClr val="FF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0000"/>
                </a:solidFill>
              </a:rPr>
              <a:t>}  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0000"/>
                </a:solidFill>
              </a:rPr>
              <a:t>}  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0000"/>
                </a:solidFill>
              </a:rPr>
              <a:t>  </a:t>
            </a:r>
            <a:endParaRPr sz="1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33451d1b1d_0_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Public Access Specifier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33451d1b1d_0_0"/>
          <p:cNvSpPr txBox="1"/>
          <p:nvPr/>
        </p:nvSpPr>
        <p:spPr>
          <a:xfrm>
            <a:off x="104175" y="425350"/>
            <a:ext cx="8820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Visibility: Accessible from anywhere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Inheritance Behavior: Subclasses inherit public members, which remain public in the subclass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33451d1b1d_0_0"/>
          <p:cNvSpPr txBox="1"/>
          <p:nvPr/>
        </p:nvSpPr>
        <p:spPr>
          <a:xfrm>
            <a:off x="270400" y="1289400"/>
            <a:ext cx="3851700" cy="4602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package examples.publicex;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Base class with public members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public class Vehicle {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public String brand;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public Vehicle(String brand) {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this.brand = brand;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public void displayInfo() {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System.out.println("Vehicle Brand: " + brand);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33451d1b1d_0_0"/>
          <p:cNvSpPr txBox="1"/>
          <p:nvPr/>
        </p:nvSpPr>
        <p:spPr>
          <a:xfrm>
            <a:off x="4335525" y="1172550"/>
            <a:ext cx="4412400" cy="5248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Subclass in the same package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Car extends Vehicle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int numberOfDoors;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Car(String brand, int doors)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super(brand);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this.numberOfDoors = doors;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void carSpecificMethod()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// Can access public members of parent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System.out.println("This " + brand + " car has " + numberOfDoors + " doors");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displayInfo(); // Can call public methods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33451d1b1d_0_12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Public Access Specifier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33451d1b1d_0_12"/>
          <p:cNvSpPr txBox="1"/>
          <p:nvPr/>
        </p:nvSpPr>
        <p:spPr>
          <a:xfrm>
            <a:off x="104175" y="425350"/>
            <a:ext cx="8820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Visibility: Accessible from anywhere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Inheritance Behavior: Subclasses inherit public members, which remain public in the subclass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33451d1b1d_0_12"/>
          <p:cNvSpPr txBox="1"/>
          <p:nvPr/>
        </p:nvSpPr>
        <p:spPr>
          <a:xfrm>
            <a:off x="181725" y="1127850"/>
            <a:ext cx="3851700" cy="4602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package examples.publicex;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Base class with public members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public class Vehicle {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public String brand;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public Vehicle(String brand) {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this.brand = brand;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public void displayInfo() {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System.out.println("Vehicle Brand: " + brand);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33451d1b1d_0_12"/>
          <p:cNvSpPr txBox="1"/>
          <p:nvPr/>
        </p:nvSpPr>
        <p:spPr>
          <a:xfrm>
            <a:off x="4217275" y="1074000"/>
            <a:ext cx="5025300" cy="5895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Subclass in different package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package examples.publicex.different;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import examples.publicex.Vehicle;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Truck extends Vehicle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private double loadCapacity;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Truck(String brand, double capacity)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super(brand); // Can access public constructor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this.loadCapacity = capacity;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public void truckSpecificMethod()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// Can access public members even from different package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System.out.println("This " + brand + " truck has load capacity of " + loadCapacity + " tons");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displayInfo(); // Can call public methods from different package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33451d1b1d_0_2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Protected Access Specifier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33451d1b1d_0_20"/>
          <p:cNvSpPr txBox="1"/>
          <p:nvPr/>
        </p:nvSpPr>
        <p:spPr>
          <a:xfrm>
            <a:off x="104175" y="425350"/>
            <a:ext cx="882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Visibility: Accessible within the same package and by subclasses (even in different packages)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Inheritance Behavior: Subclasses inherit and can access protected members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33451d1b1d_0_20"/>
          <p:cNvSpPr txBox="1"/>
          <p:nvPr/>
        </p:nvSpPr>
        <p:spPr>
          <a:xfrm>
            <a:off x="181725" y="1127850"/>
            <a:ext cx="3851700" cy="4925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package examples.protectedex;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Animal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protected String species;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protected Animal(String species)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this.species = species;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protected void makeSound()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System.out.println("Generic animal sound");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33451d1b1d_0_20"/>
          <p:cNvSpPr txBox="1"/>
          <p:nvPr/>
        </p:nvSpPr>
        <p:spPr>
          <a:xfrm>
            <a:off x="4453750" y="1074000"/>
            <a:ext cx="4788900" cy="5895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Subclass in the same package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Dog extends Animal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private String breed;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Dog(String breed)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super("Canine"); // Can access protected constructor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this.breed = breed;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void dogSpecificMethod()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// Can access protected members from parent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System.out.println("This dog is a " + species + " of breed " + breed);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makeSound(); // Can call protected methods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@Override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protected void makeSound()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System.out.println("Woof!");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33451d1b1d_0_31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Protected Access Specifier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33451d1b1d_0_31"/>
          <p:cNvSpPr txBox="1"/>
          <p:nvPr/>
        </p:nvSpPr>
        <p:spPr>
          <a:xfrm>
            <a:off x="104175" y="425350"/>
            <a:ext cx="882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Visibility: Accessible within the same package and by subclasses (even in different packages)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Inheritance Behavior: Subclasses inherit and can access protected members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33451d1b1d_0_31"/>
          <p:cNvSpPr txBox="1"/>
          <p:nvPr/>
        </p:nvSpPr>
        <p:spPr>
          <a:xfrm>
            <a:off x="181725" y="1127850"/>
            <a:ext cx="3851700" cy="4279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Subclass in different package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package examples.protectedex.different;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import examples.protectedex.Animal;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Cat extends Animal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private boolean isIndoor;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Cat(boolean indoor)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super("Feline"); // Can access protected constructor from different package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this.isIndoor = indoor;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33451d1b1d_0_31"/>
          <p:cNvSpPr txBox="1"/>
          <p:nvPr/>
        </p:nvSpPr>
        <p:spPr>
          <a:xfrm>
            <a:off x="4158150" y="1074000"/>
            <a:ext cx="4986000" cy="4602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public void catSpecificMethod()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// Can access protected members even from different package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System.out.println("This cat is a " + species + " and it is " + (isIndoor ? "an indoor cat" : "an outdoor cat"));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makeSound(); // Can call protected methods from different package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    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@Override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protected void makeSound()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System.out.println("Meow!");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33451d1b1d_0_3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Default (Package-Private) Access Specifier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33451d1b1d_0_39"/>
          <p:cNvSpPr txBox="1"/>
          <p:nvPr/>
        </p:nvSpPr>
        <p:spPr>
          <a:xfrm>
            <a:off x="104175" y="425350"/>
            <a:ext cx="882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Visibility: Accessible only within the same package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Inheritance Behavior: Subclasses in the same package inherit and can access default members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33451d1b1d_0_39"/>
          <p:cNvSpPr txBox="1"/>
          <p:nvPr/>
        </p:nvSpPr>
        <p:spPr>
          <a:xfrm>
            <a:off x="181725" y="1127850"/>
            <a:ext cx="3851700" cy="5248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package examples.defaultex;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Class with default access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Database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// Default field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String connectionString;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// Default constructor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Database(String connectionString)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this.connectionString = connectionString;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// Default method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void connect()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System.out.println("Connecting to database with: " + connectionString);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33451d1b1d_0_39"/>
          <p:cNvSpPr txBox="1"/>
          <p:nvPr/>
        </p:nvSpPr>
        <p:spPr>
          <a:xfrm>
            <a:off x="4158150" y="1074000"/>
            <a:ext cx="4986000" cy="557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// Subclass in the same package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OracleDatabase extends Database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String oracleVersion;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OracleDatabase(String connectionString, String version)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super(connectionString); // Can access default constructor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this.oracleVersion = version;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void oracleSpecificMethod()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// Can access default members from parent (same package)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System.out.println("Oracle " + oracleVersion + " using connection: " + connectionString);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connect(); // Can call default methods (same package)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33451d1b1d_0_51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Default (Package-Private) Access Specifier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33451d1b1d_0_51"/>
          <p:cNvSpPr txBox="1"/>
          <p:nvPr/>
        </p:nvSpPr>
        <p:spPr>
          <a:xfrm>
            <a:off x="104175" y="425350"/>
            <a:ext cx="882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Visibility: Accessible only within the same package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Inheritance Behavior: Subclasses in the same package inherit and can access default members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33451d1b1d_0_51"/>
          <p:cNvSpPr txBox="1"/>
          <p:nvPr/>
        </p:nvSpPr>
        <p:spPr>
          <a:xfrm>
            <a:off x="181725" y="1127850"/>
            <a:ext cx="3851700" cy="557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Subclass in different package - WILL NOT COMPILE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/*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package examples.defaultex.different;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import examples.defaultex.Database; // Cannot import default class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PostgresDatabase extends Database { // Compilation error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String postgresVersion;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PostgresDatabase(String connectionString, String version)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super(connectionString); // Cannot access default constructor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this.postgresVersion = version;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33451d1b1d_0_51"/>
          <p:cNvSpPr txBox="1"/>
          <p:nvPr/>
        </p:nvSpPr>
        <p:spPr>
          <a:xfrm>
            <a:off x="4158150" y="1074000"/>
            <a:ext cx="4986000" cy="3955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void postgresSpecificMethod()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// Cannot access default members from different package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// System.out.println("Postgres " + postgresVersion + " using connection: " + connectionString);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// connect(); // Cannot call default methods from different package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33451d1b1d_0_6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Private Access Specifier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33451d1b1d_0_60"/>
          <p:cNvSpPr txBox="1"/>
          <p:nvPr/>
        </p:nvSpPr>
        <p:spPr>
          <a:xfrm>
            <a:off x="104175" y="425350"/>
            <a:ext cx="882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Visibility: Accessible only within the declaring class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Inheritance Behavior: Subclasses DO NOT inherit private members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33451d1b1d_0_60"/>
          <p:cNvSpPr txBox="1"/>
          <p:nvPr/>
        </p:nvSpPr>
        <p:spPr>
          <a:xfrm>
            <a:off x="181725" y="1127850"/>
            <a:ext cx="4351800" cy="4602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package examples.privateex;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BankAccount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private double balance;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private String accountNumber;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BankAccount(String accountNumber, double initialBalance)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this.accountNumber = accountNumber;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this.balance = initialBalance;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private void validateTransaction(double amount)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if (amount &lt;= 0)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lang="en-US">
                <a:solidFill>
                  <a:srgbClr val="FF0000"/>
                </a:solidFill>
              </a:rPr>
              <a:t>System.out.println</a:t>
            </a: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("Amount must be positive");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33451d1b1d_0_60"/>
          <p:cNvSpPr txBox="1"/>
          <p:nvPr/>
        </p:nvSpPr>
        <p:spPr>
          <a:xfrm>
            <a:off x="4693775" y="1074000"/>
            <a:ext cx="4351800" cy="5248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void deposit(double amount)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validateTransaction(amount); // Can call private method internally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balance += amount;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System.out.println("Deposited: $" + amount);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double getBalance()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return balance;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33451d1b1d_0_71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Private Access Specifier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33451d1b1d_0_71"/>
          <p:cNvSpPr txBox="1"/>
          <p:nvPr/>
        </p:nvSpPr>
        <p:spPr>
          <a:xfrm>
            <a:off x="104175" y="425350"/>
            <a:ext cx="882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Visibility: Accessible only within the declaring class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Inheritance Behavior: Subclasses DO NOT inherit private members</a:t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33451d1b1d_0_71"/>
          <p:cNvSpPr txBox="1"/>
          <p:nvPr/>
        </p:nvSpPr>
        <p:spPr>
          <a:xfrm>
            <a:off x="181725" y="1127850"/>
            <a:ext cx="3851700" cy="3955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Subclass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SavingsAccount extends BankAccount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private double interestRate;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public SavingsAccount(String accountNumber, double initialBalance, double rate)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super(accountNumber, initialBalance);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this.interestRate = rate;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33451d1b1d_0_71"/>
          <p:cNvSpPr txBox="1"/>
          <p:nvPr/>
        </p:nvSpPr>
        <p:spPr>
          <a:xfrm>
            <a:off x="4158150" y="1074000"/>
            <a:ext cx="4887300" cy="3955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void addInterest() 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double interest = getBalance() * interestRate; // Must use public getter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// Cannot access private members directly: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// double interest = balance * interestRate; // Compilation error!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// Cannot call private methods: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// validateTransaction(interest); // Compilation error!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deposit(interest); // Must use public method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3eaadde678_0_38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Access Modifier Rules for Overridden Methods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3eaadde678_0_38"/>
          <p:cNvSpPr txBox="1"/>
          <p:nvPr/>
        </p:nvSpPr>
        <p:spPr>
          <a:xfrm>
            <a:off x="104175" y="425350"/>
            <a:ext cx="8909100" cy="6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Basic Rule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The overriding method in a subclass cannot have a more restrictive access modifier than the method in the superclass.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Access Modifier Hierarchy (from most to least restrictive)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default (no modifier, also called package-private)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protected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Allowed Access Modifier Changes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When overriding methods, you can: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Keep the same access modifier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Use a less restrictive access modifier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 example: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 protected method can be overridden as protected or public, but not as private or default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 public method must remain public when overridden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3eaadde678_0_5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Access Modifier Rules for Overridden Methods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3eaadde678_0_50"/>
          <p:cNvSpPr txBox="1"/>
          <p:nvPr/>
        </p:nvSpPr>
        <p:spPr>
          <a:xfrm>
            <a:off x="27900" y="660000"/>
            <a:ext cx="4467900" cy="3755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Parent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Default access (package-private)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void methodA()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System.out.println("Parent's methodA");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protected void methodB()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System.out.println("Parent's methodB");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3eaadde678_0_50"/>
          <p:cNvSpPr txBox="1"/>
          <p:nvPr/>
        </p:nvSpPr>
        <p:spPr>
          <a:xfrm>
            <a:off x="4495800" y="660000"/>
            <a:ext cx="4617300" cy="4494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Child extends Parent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Valid: default → protected (less restrictive)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@Override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protected void methodA()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System.out.println("Child's methodA");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Valid: protected → public (less restrictive)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@Override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public void methodB()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System.out.println("Child's methodB");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3eaadde678_0_57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Access Modifier Rules for Overridden Methods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3eaadde678_0_57"/>
          <p:cNvSpPr txBox="1"/>
          <p:nvPr/>
        </p:nvSpPr>
        <p:spPr>
          <a:xfrm>
            <a:off x="27900" y="660000"/>
            <a:ext cx="4467900" cy="412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Parent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public void methodC()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System.out.println("Parent's methodC");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protected void methodD()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System.out.println("Parent's methodD");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3eaadde678_0_57"/>
          <p:cNvSpPr txBox="1"/>
          <p:nvPr/>
        </p:nvSpPr>
        <p:spPr>
          <a:xfrm>
            <a:off x="4495800" y="660000"/>
            <a:ext cx="4617300" cy="5972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Child extends Parent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Invalid: public → protected (more restrictive)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// This will cause a compilation error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@Override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protected void methodC()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System.out.println("Child's methodC");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Invalid: protected → default (more restrictive)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// This will cause a compilation error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@Override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void methodD()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System.out.println("Child's methodD");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3eaadde678_0_66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Private Access Modifier for Overridden Methods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3eaadde678_0_66"/>
          <p:cNvSpPr txBox="1"/>
          <p:nvPr/>
        </p:nvSpPr>
        <p:spPr>
          <a:xfrm>
            <a:off x="689175" y="1779900"/>
            <a:ext cx="8089500" cy="412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Parent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private void privateMethod()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System.out.println("Parent's private method");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Child extends Parent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// This is NOT overriding, it's a new method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private void privateMethod() {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	System.out.println("Child's private method");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3eaadde678_0_66"/>
          <p:cNvSpPr txBox="1"/>
          <p:nvPr/>
        </p:nvSpPr>
        <p:spPr>
          <a:xfrm>
            <a:off x="104175" y="425350"/>
            <a:ext cx="8909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Private methods cannot be overridden because they are not inherited by subclasses. 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If you define a method with the same signature in a subclass, it's not overriding but rather creating a new method.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3b328fdb9f_0_12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Abstract in Java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3b328fdb9f_0_12"/>
          <p:cNvSpPr txBox="1"/>
          <p:nvPr/>
        </p:nvSpPr>
        <p:spPr>
          <a:xfrm>
            <a:off x="104175" y="425350"/>
            <a:ext cx="89091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0000FF"/>
                </a:solidFill>
              </a:rPr>
              <a:t>An </a:t>
            </a:r>
            <a:r>
              <a:rPr lang="en-US" sz="1800">
                <a:solidFill>
                  <a:srgbClr val="FF0000"/>
                </a:solidFill>
              </a:rPr>
              <a:t>abstract is a Java modifier</a:t>
            </a:r>
            <a:r>
              <a:rPr lang="en-US" sz="1800">
                <a:solidFill>
                  <a:srgbClr val="0000FF"/>
                </a:solidFill>
              </a:rPr>
              <a:t> applicable for classes and methods in Java but </a:t>
            </a:r>
            <a:r>
              <a:rPr lang="en-US" sz="1800">
                <a:solidFill>
                  <a:srgbClr val="FF0000"/>
                </a:solidFill>
              </a:rPr>
              <a:t>not for Variables.</a:t>
            </a:r>
            <a:endParaRPr sz="1800">
              <a:solidFill>
                <a:srgbClr val="FF0000"/>
              </a:solidFill>
            </a:endParaRPr>
          </a:p>
          <a:p>
            <a:pPr indent="-3429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○"/>
            </a:pPr>
            <a:r>
              <a:rPr lang="en-US" sz="1800">
                <a:solidFill>
                  <a:srgbClr val="0000FF"/>
                </a:solidFill>
              </a:rPr>
              <a:t>Abstract Class</a:t>
            </a:r>
            <a:endParaRPr sz="1800">
              <a:solidFill>
                <a:srgbClr val="0000FF"/>
              </a:solidFill>
            </a:endParaRPr>
          </a:p>
          <a:p>
            <a:pPr indent="-3429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○"/>
            </a:pPr>
            <a:r>
              <a:rPr lang="en-US" sz="1800">
                <a:solidFill>
                  <a:srgbClr val="0000FF"/>
                </a:solidFill>
              </a:rPr>
              <a:t>Abstract Method</a:t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3b328fdb9f_0_3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What is Abstract Class in Java?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3b328fdb9f_0_3"/>
          <p:cNvSpPr txBox="1"/>
          <p:nvPr/>
        </p:nvSpPr>
        <p:spPr>
          <a:xfrm>
            <a:off x="689175" y="1779900"/>
            <a:ext cx="8089500" cy="2277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abstract class Shape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{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	int color;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	// An abstract function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	abstract void draw();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}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402" name="Google Shape;402;g33b328fdb9f_0_3"/>
          <p:cNvSpPr txBox="1"/>
          <p:nvPr/>
        </p:nvSpPr>
        <p:spPr>
          <a:xfrm>
            <a:off x="104175" y="425350"/>
            <a:ext cx="8909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a class that can not be instantiated by itself, it needs to be subclassed by another class to use its properties.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abstract class is declared with the abstract keyword. 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It may have both abstract and non-abstract methods(methods with bodies).</a:t>
            </a:r>
            <a:endParaRPr sz="1800">
              <a:solidFill>
                <a:srgbClr val="0000FF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3b328fdb9f_0_1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Important properties of abstract classes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3b328fdb9f_0_19"/>
          <p:cNvSpPr txBox="1"/>
          <p:nvPr/>
        </p:nvSpPr>
        <p:spPr>
          <a:xfrm>
            <a:off x="104175" y="538800"/>
            <a:ext cx="89091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An instance of an abstract class can not be created.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Constructors are allowed.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We can have an abstract class without any abstract method.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There can be a final method in abstract class but any abstract method in class(abstract class) can not be declared as final  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We can define static methods in an abstract class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We can use the abstract keyword for declaring top-level classes (Outer class) as well as inner classes as abstract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-US" sz="1800">
                <a:solidFill>
                  <a:srgbClr val="0000FF"/>
                </a:solidFill>
              </a:rPr>
              <a:t>If a class contains at least one abstract method then compulsory should declare a class as abstract</a:t>
            </a:r>
            <a:endParaRPr sz="1800">
              <a:solidFill>
                <a:srgbClr val="0000FF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0000FF"/>
                </a:solidFill>
              </a:rPr>
              <a:t>If the Child class is unable to provide implementation to all abstract methods of the Parent class then we should declare that Child class as abstract </a:t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b328fdb9f_0_30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9900FF"/>
                </a:solidFill>
              </a:rPr>
              <a:t>Abstract Class 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3b328fdb9f_0_30"/>
          <p:cNvSpPr txBox="1"/>
          <p:nvPr/>
        </p:nvSpPr>
        <p:spPr>
          <a:xfrm>
            <a:off x="196625" y="2355550"/>
            <a:ext cx="4217400" cy="412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import java.io.*;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abstract class Subject {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	Subject() {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	System.out.println("Learning Subject"); 	}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	abstract void syllabus();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	void Learn(){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    	System.out.println("Preparing Right Now!");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	}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}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415" name="Google Shape;415;g33b328fdb9f_0_30"/>
          <p:cNvSpPr txBox="1"/>
          <p:nvPr/>
        </p:nvSpPr>
        <p:spPr>
          <a:xfrm>
            <a:off x="104175" y="425350"/>
            <a:ext cx="89091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</a:rPr>
              <a:t>Elements abstract class can have:</a:t>
            </a:r>
            <a:endParaRPr sz="1800">
              <a:solidFill>
                <a:srgbClr val="0000FF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rgbClr val="0000FF"/>
                </a:solidFill>
              </a:rPr>
              <a:t>data member</a:t>
            </a:r>
            <a:endParaRPr sz="1800">
              <a:solidFill>
                <a:srgbClr val="0000FF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rgbClr val="0000FF"/>
                </a:solidFill>
              </a:rPr>
              <a:t>abstract method</a:t>
            </a:r>
            <a:endParaRPr sz="1800">
              <a:solidFill>
                <a:srgbClr val="0000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rgbClr val="0000FF"/>
                </a:solidFill>
              </a:rPr>
              <a:t>method body (non-abstract method)</a:t>
            </a:r>
            <a:endParaRPr sz="1800">
              <a:solidFill>
                <a:srgbClr val="0000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rgbClr val="0000FF"/>
                </a:solidFill>
              </a:rPr>
              <a:t>constructor</a:t>
            </a:r>
            <a:endParaRPr sz="1800">
              <a:solidFill>
                <a:srgbClr val="0000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rgbClr val="0000FF"/>
                </a:solidFill>
              </a:rPr>
              <a:t>main() method.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416" name="Google Shape;416;g33b328fdb9f_0_30"/>
          <p:cNvSpPr txBox="1"/>
          <p:nvPr/>
        </p:nvSpPr>
        <p:spPr>
          <a:xfrm>
            <a:off x="4572000" y="604050"/>
            <a:ext cx="4510800" cy="4494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class IT extends Subject {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void syllabus(){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	System.out.println("C , Java , C++");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}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}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class GFG {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	public static void main(String[] args) {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  	Subject x=new IT();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	       	x.syllabus();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    	x.Learn();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	}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}</a:t>
            </a:r>
            <a:endParaRPr sz="1600">
              <a:solidFill>
                <a:srgbClr val="FF0000"/>
              </a:solidFill>
            </a:endParaRPr>
          </a:p>
        </p:txBody>
      </p:sp>
      <p:pic>
        <p:nvPicPr>
          <p:cNvPr id="417" name="Google Shape;417;g33b328fdb9f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5098650"/>
            <a:ext cx="3143250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