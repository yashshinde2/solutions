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7" roundtripDataSignature="AMtx7mjkE6BB6DaWXqg6Bf26SL5RYIxL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customschemas.google.com/relationships/presentationmetadata" Target="metadata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3f03b2c2c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g33f03b2c2ca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3f03b2c2ca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" name="Google Shape;102;g33f03b2c2ca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3f03b2c2c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g33f03b2c2ca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3f03b2c2c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g33f03b2c2ca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3f03b2c2ca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g33f03b2c2ca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3f03b2c2ca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g33f03b2c2ca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3f03b2c2ca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g33f03b2c2ca_0_2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3f03b2c2ca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g33f03b2c2ca_0_2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3f03b2c2ca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2" name="Google Shape;142;g33f03b2c2ca_0_2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3f03b2c2ca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g33f03b2c2ca_0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3f03b2c2ca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g33f03b2c2ca_0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3f03b2c2ca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5" name="Google Shape;165;g33f03b2c2ca_0_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3f03b2c2ca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3" name="Google Shape;173;g33f03b2c2ca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3f03b2c2ca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g33f03b2c2ca_0_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3f03b2c2ca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7" name="Google Shape;187;g33f03b2c2ca_0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3f03b2c2ca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3" name="Google Shape;193;g33f03b2c2ca_0_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3f03b2c2ca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1" name="Google Shape;201;g33f03b2c2ca_0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3f03b2c2ca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8" name="Google Shape;208;g33f03b2c2ca_0_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3f03b2c2ca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6" name="Google Shape;216;g33f03b2c2ca_0_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3f03b2c2ca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3" name="Google Shape;223;g33f03b2c2ca_0_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3f03b2c2ca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0" name="Google Shape;230;g33f03b2c2ca_0_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3f03b2c2ca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7" name="Google Shape;237;g33f03b2c2ca_0_1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3f03b2c2ca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4" name="Google Shape;244;g33f03b2c2ca_0_10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3f03b2c2ca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9" name="Google Shape;249;g33f03b2c2ca_0_1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3f03b2c2ca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4" name="Google Shape;254;g33f03b2c2ca_0_1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3f03b2c2ca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9" name="Google Shape;259;g33f03b2c2ca_0_1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3f03b2c2ca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4" name="Google Shape;264;g33f03b2c2ca_0_1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3f03b2c2ca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9" name="Google Shape;269;g33f03b2c2ca_0_1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6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6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6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6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6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6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7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7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7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7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7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7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7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7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7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7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7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7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7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7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7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7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6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5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3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7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854925" y="1905000"/>
            <a:ext cx="7694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9900FF"/>
                </a:solidFill>
                <a:latin typeface="Calibri"/>
                <a:ea typeface="Calibri"/>
                <a:cs typeface="Calibri"/>
                <a:sym typeface="Calibri"/>
              </a:rPr>
              <a:t>Unit II: Fundamentals of Java Programming</a:t>
            </a:r>
            <a:endParaRPr sz="3200">
              <a:solidFill>
                <a:srgbClr val="99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9-Fundamentals-of-OOP-Object-Oriented-Programming-29-2048.jpg" id="89" name="Google Shape;8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0-Fundamentals-of-OOP-Object-Oriented-Programming-30-2048.jpg" id="94" name="Google Shape;9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49-Fundamentals-of-OOP-Object-Oriented-Programming-49-2048.jpg" id="99" name="Google Shape;99;g33f03b2c2ca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50-Fundamentals-of-OOP-Object-Oriented-Programming-50-2048.jpg" id="104" name="Google Shape;104;g33f03b2c2ca_0_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g33f03b2c2ca_0_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9950" y="96088"/>
            <a:ext cx="7070174" cy="6665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3f03b2c2ca_0_12"/>
          <p:cNvSpPr txBox="1"/>
          <p:nvPr/>
        </p:nvSpPr>
        <p:spPr>
          <a:xfrm>
            <a:off x="0" y="0"/>
            <a:ext cx="914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9900FF"/>
                </a:solidFill>
                <a:latin typeface="Cambria"/>
                <a:ea typeface="Cambria"/>
                <a:cs typeface="Cambria"/>
                <a:sym typeface="Cambria"/>
              </a:rPr>
              <a:t>Types of Variable</a:t>
            </a:r>
            <a:endParaRPr b="1" i="0" sz="2400" u="none" cap="none" strike="noStrike">
              <a:solidFill>
                <a:srgbClr val="9900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5" name="Google Shape;115;g33f03b2c2ca_0_12"/>
          <p:cNvSpPr txBox="1"/>
          <p:nvPr/>
        </p:nvSpPr>
        <p:spPr>
          <a:xfrm>
            <a:off x="63975" y="757250"/>
            <a:ext cx="8970600" cy="37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There are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three types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of variables in java:</a:t>
            </a:r>
            <a:endParaRPr b="0" i="0" sz="2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9900FF"/>
                </a:solidFill>
                <a:latin typeface="Cambria"/>
                <a:ea typeface="Cambria"/>
                <a:cs typeface="Cambria"/>
                <a:sym typeface="Cambria"/>
              </a:rPr>
              <a:t>1) Local Variable</a:t>
            </a:r>
            <a:endParaRPr b="0" i="0" sz="2000" u="none" cap="none" strike="noStrike">
              <a:solidFill>
                <a:srgbClr val="9900F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 variable which is </a:t>
            </a:r>
            <a:r>
              <a:rPr b="0" i="0" lang="en-US" sz="2000" u="none" cap="none" strike="noStrike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declared inside the method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is called local variable.</a:t>
            </a:r>
            <a:endParaRPr b="0" i="0" sz="2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9900FF"/>
                </a:solidFill>
                <a:latin typeface="Cambria"/>
                <a:ea typeface="Cambria"/>
                <a:cs typeface="Cambria"/>
                <a:sym typeface="Cambria"/>
              </a:rPr>
              <a:t>2) Instance Variable</a:t>
            </a:r>
            <a:endParaRPr b="0" i="0" sz="2000" u="none" cap="none" strike="noStrike">
              <a:solidFill>
                <a:srgbClr val="9900F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 variable which is </a:t>
            </a:r>
            <a:r>
              <a:rPr b="0" i="0" lang="en-US" sz="2000" u="none" cap="none" strike="noStrike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declared inside the class but outside the method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, is called instance variable . It is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not declared as static.</a:t>
            </a:r>
            <a:endParaRPr b="0" i="0" sz="2000" u="none" cap="none" strike="noStrike"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9900FF"/>
                </a:solidFill>
                <a:latin typeface="Cambria"/>
                <a:ea typeface="Cambria"/>
                <a:cs typeface="Cambria"/>
                <a:sym typeface="Cambria"/>
              </a:rPr>
              <a:t>3) Static variable</a:t>
            </a:r>
            <a:endParaRPr b="0" i="0" sz="2000" u="none" cap="none" strike="noStrike">
              <a:solidFill>
                <a:srgbClr val="9900F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 variable that is </a:t>
            </a:r>
            <a:r>
              <a:rPr b="0" i="0" lang="en-US" sz="2000" u="none" cap="none" strike="noStrike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declared as static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is called static variable. It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cannot be local.</a:t>
            </a:r>
            <a:endParaRPr b="0" i="0" sz="2000" u="none" cap="none" strike="noStrike"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3f03b2c2ca_0_17"/>
          <p:cNvSpPr txBox="1"/>
          <p:nvPr/>
        </p:nvSpPr>
        <p:spPr>
          <a:xfrm>
            <a:off x="0" y="0"/>
            <a:ext cx="914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9900FF"/>
                </a:solidFill>
                <a:latin typeface="Cambria"/>
                <a:ea typeface="Cambria"/>
                <a:cs typeface="Cambria"/>
                <a:sym typeface="Cambria"/>
              </a:rPr>
              <a:t>Example to understand the types of variables in java</a:t>
            </a:r>
            <a:endParaRPr b="1" i="0" sz="2400" u="none" cap="none" strike="noStrike">
              <a:solidFill>
                <a:srgbClr val="9900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1" name="Google Shape;121;g33f03b2c2ca_0_17"/>
          <p:cNvSpPr txBox="1"/>
          <p:nvPr/>
        </p:nvSpPr>
        <p:spPr>
          <a:xfrm>
            <a:off x="63975" y="757250"/>
            <a:ext cx="89706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class A</a:t>
            </a:r>
            <a:endParaRPr b="0" i="0" sz="2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{</a:t>
            </a:r>
            <a:endParaRPr b="0" i="0" sz="2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int data=50;  </a:t>
            </a:r>
            <a:r>
              <a:rPr b="0" i="0" lang="en-US" sz="2000" u="none" cap="none" strike="noStrike">
                <a:solidFill>
                  <a:srgbClr val="9900FF"/>
                </a:solidFill>
                <a:latin typeface="Cambria"/>
                <a:ea typeface="Cambria"/>
                <a:cs typeface="Cambria"/>
                <a:sym typeface="Cambria"/>
              </a:rPr>
              <a:t>//instance variable</a:t>
            </a:r>
            <a:endParaRPr b="0" i="0" sz="2000" u="none" cap="none" strike="noStrike">
              <a:solidFill>
                <a:srgbClr val="9900F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static int m=100; </a:t>
            </a:r>
            <a:r>
              <a:rPr b="0" i="0" lang="en-US" sz="2000" u="none" cap="none" strike="noStrike">
                <a:solidFill>
                  <a:srgbClr val="9900FF"/>
                </a:solidFill>
                <a:latin typeface="Cambria"/>
                <a:ea typeface="Cambria"/>
                <a:cs typeface="Cambria"/>
                <a:sym typeface="Cambria"/>
              </a:rPr>
              <a:t>//static variable</a:t>
            </a:r>
            <a:endParaRPr b="0" i="0" sz="2000" u="none" cap="none" strike="noStrike">
              <a:solidFill>
                <a:srgbClr val="9900F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void method( )</a:t>
            </a:r>
            <a:endParaRPr b="0" i="0" sz="2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{</a:t>
            </a:r>
            <a:endParaRPr b="0" i="0" sz="2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int n=90; </a:t>
            </a:r>
            <a:r>
              <a:rPr b="0" i="0" lang="en-US" sz="2000" u="none" cap="none" strike="noStrike">
                <a:solidFill>
                  <a:srgbClr val="9900FF"/>
                </a:solidFill>
                <a:latin typeface="Cambria"/>
                <a:ea typeface="Cambria"/>
                <a:cs typeface="Cambria"/>
                <a:sym typeface="Cambria"/>
              </a:rPr>
              <a:t>//local variable</a:t>
            </a:r>
            <a:endParaRPr b="0" i="0" sz="2000" u="none" cap="none" strike="noStrike">
              <a:solidFill>
                <a:srgbClr val="9900F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}</a:t>
            </a:r>
            <a:endParaRPr b="0" i="0" sz="2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}</a:t>
            </a:r>
            <a:endParaRPr b="0" i="0" sz="2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3f03b2c2ca_0_22"/>
          <p:cNvSpPr txBox="1"/>
          <p:nvPr/>
        </p:nvSpPr>
        <p:spPr>
          <a:xfrm>
            <a:off x="0" y="0"/>
            <a:ext cx="914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9900FF"/>
                </a:solidFill>
                <a:latin typeface="Cambria"/>
                <a:ea typeface="Cambria"/>
                <a:cs typeface="Cambria"/>
                <a:sym typeface="Cambria"/>
              </a:rPr>
              <a:t>Constants in Java</a:t>
            </a:r>
            <a:endParaRPr b="1" i="0" sz="2400" u="none" cap="none" strike="noStrike">
              <a:solidFill>
                <a:srgbClr val="9900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7" name="Google Shape;127;g33f03b2c2ca_0_22"/>
          <p:cNvSpPr txBox="1"/>
          <p:nvPr/>
        </p:nvSpPr>
        <p:spPr>
          <a:xfrm>
            <a:off x="63975" y="757250"/>
            <a:ext cx="89706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 constant is a variable which </a:t>
            </a:r>
            <a:r>
              <a:rPr b="0" i="0" lang="en-US" sz="2000" u="none" cap="none" strike="noStrike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cannot have its value changed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after declaration. </a:t>
            </a:r>
            <a:endParaRPr b="0" i="0" sz="2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It uses the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'final'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keyword.</a:t>
            </a:r>
            <a:endParaRPr b="0" i="0" sz="2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100" u="none" cap="none" strike="noStrike">
                <a:solidFill>
                  <a:srgbClr val="9900FF"/>
                </a:solidFill>
                <a:latin typeface="Cambria"/>
                <a:ea typeface="Cambria"/>
                <a:cs typeface="Cambria"/>
                <a:sym typeface="Cambria"/>
              </a:rPr>
              <a:t>Syntax:</a:t>
            </a:r>
            <a:endParaRPr b="0" i="0" sz="2100" u="none" cap="none" strike="noStrike">
              <a:solidFill>
                <a:srgbClr val="9900F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access-modifier final dataType variableName = value;</a:t>
            </a:r>
            <a:endParaRPr b="0" i="0" sz="2100" u="none" cap="none" strike="noStrike">
              <a:solidFill>
                <a:srgbClr val="0000F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public final float pi=3.14;</a:t>
            </a:r>
            <a:endParaRPr b="0" i="0" sz="2100" u="none" cap="none" strike="noStrike"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3f03b2c2ca_0_224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Java String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g33f03b2c2ca_0_224"/>
          <p:cNvSpPr txBox="1"/>
          <p:nvPr/>
        </p:nvSpPr>
        <p:spPr>
          <a:xfrm>
            <a:off x="74700" y="538800"/>
            <a:ext cx="8938500" cy="49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●"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string is basically an object that represents sequence of char values.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●"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array of characters works same as java string. 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●"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example: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r>
              <a:rPr b="0" i="0" lang="en-US" sz="21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char[] ch={'j','a','v','a','t','p','o','i','n','t'};</a:t>
            </a:r>
            <a:endParaRPr b="0" i="0" sz="21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b="0" i="0" lang="en-US" sz="21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String s=new String(ch);</a:t>
            </a:r>
            <a:endParaRPr b="0" i="0" sz="21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●"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Java String class provides a lot of methods to perform operations on string such as compare(), concat(), equals(), split(), length(), replace(), compareTo(), intern(), substring() etc.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●"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There are </a:t>
            </a:r>
            <a:r>
              <a:rPr b="0" i="0" lang="en-US" sz="21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two ways to create String </a:t>
            </a: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object: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By string literal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By new keyword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3f03b2c2ca_0_229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Java String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g33f03b2c2ca_0_229"/>
          <p:cNvSpPr txBox="1"/>
          <p:nvPr/>
        </p:nvSpPr>
        <p:spPr>
          <a:xfrm>
            <a:off x="74700" y="538800"/>
            <a:ext cx="8938500" cy="43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7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String Literal</a:t>
            </a:r>
            <a:endParaRPr b="1" i="0" sz="17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Java String literal is created by using double quotes. For Example: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String s="welcome";</a:t>
            </a:r>
            <a:endParaRPr b="0" i="0" sz="17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time you create a string literal, the J</a:t>
            </a:r>
            <a:r>
              <a:rPr b="0" i="0" lang="en-US" sz="17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VM checks the string constant pool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first. 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the string already exists in the pool, a reference to the pooled instance is returned. 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string doesn't exist in the pool, a new string instance is created and placed in the pool. 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example: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r>
              <a:rPr b="0" i="0" lang="en-US" sz="17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String s1="Welcome";</a:t>
            </a:r>
            <a:endParaRPr b="0" i="0" sz="17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b="0" i="0" lang="en-US" sz="17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String s2="Welcome";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n-US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//will not create new instance</a:t>
            </a:r>
            <a:endParaRPr b="0" i="0" sz="17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3f03b2c2ca_0_234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Java String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g33f03b2c2ca_0_234"/>
          <p:cNvSpPr txBox="1"/>
          <p:nvPr/>
        </p:nvSpPr>
        <p:spPr>
          <a:xfrm>
            <a:off x="74700" y="538800"/>
            <a:ext cx="8938500" cy="21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By new keyword</a:t>
            </a:r>
            <a:endParaRPr b="1" i="0" sz="16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String s=new String("Welcome"); 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such case, JVM will create a new string object in normal (non pool) heap memory and the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literal "Welcome" will be placed in the string constant pool. 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variable s will refer to the object in heap (non pool).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g33f03b2c2ca_0_234"/>
          <p:cNvSpPr txBox="1"/>
          <p:nvPr/>
        </p:nvSpPr>
        <p:spPr>
          <a:xfrm>
            <a:off x="1142550" y="2773075"/>
            <a:ext cx="6858900" cy="39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public class StringExample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public static void main(String args[])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String s1="java";  //creating string by java string literal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char ch[]={'s','t','r','i','n','g','s'};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String s2=new String(ch);  //converting char array to string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String s3=new String("example");  //creating java string by new keyword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System.out.println(s1);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System.out.println(s2);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System.out.println(s3);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}}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3f03b2c2ca_0_27"/>
          <p:cNvSpPr txBox="1"/>
          <p:nvPr/>
        </p:nvSpPr>
        <p:spPr>
          <a:xfrm>
            <a:off x="0" y="0"/>
            <a:ext cx="914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9900FF"/>
                </a:solidFill>
                <a:latin typeface="Cambria"/>
                <a:ea typeface="Cambria"/>
                <a:cs typeface="Cambria"/>
                <a:sym typeface="Cambria"/>
              </a:rPr>
              <a:t>Operators in Java</a:t>
            </a:r>
            <a:endParaRPr b="1" i="0" sz="2400" u="none" cap="none" strike="noStrike">
              <a:solidFill>
                <a:srgbClr val="9900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2" name="Google Shape;152;g33f03b2c2ca_0_27"/>
          <p:cNvSpPr txBox="1"/>
          <p:nvPr/>
        </p:nvSpPr>
        <p:spPr>
          <a:xfrm>
            <a:off x="63975" y="757250"/>
            <a:ext cx="2934000" cy="37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000" u="none" cap="none" strike="noStrik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o Unary Operator</a:t>
            </a:r>
            <a:endParaRPr b="0" i="0" sz="2000" u="none" cap="none" strike="noStrike"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000" u="none" cap="none" strike="noStrik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o Arithmetic Operator</a:t>
            </a:r>
            <a:endParaRPr b="0" i="0" sz="2000" u="none" cap="none" strike="noStrike"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000" u="none" cap="none" strike="noStrik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o shift Operator</a:t>
            </a:r>
            <a:endParaRPr b="0" i="0" sz="2000" u="none" cap="none" strike="noStrike"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000" u="none" cap="none" strike="noStrik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o Relational Operator</a:t>
            </a:r>
            <a:endParaRPr b="0" i="0" sz="2000" u="none" cap="none" strike="noStrike"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000" u="none" cap="none" strike="noStrik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o Bitwise Operator</a:t>
            </a:r>
            <a:endParaRPr b="0" i="0" sz="2000" u="none" cap="none" strike="noStrike"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000" u="none" cap="none" strike="noStrik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o Logical Operator</a:t>
            </a:r>
            <a:endParaRPr b="0" i="0" sz="2000" u="none" cap="none" strike="noStrike"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000" u="none" cap="none" strike="noStrik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o Ternary Operator </a:t>
            </a:r>
            <a:endParaRPr b="0" i="0" sz="2000" u="none" cap="none" strike="noStrike"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o Assignment Operator</a:t>
            </a:r>
            <a:endParaRPr b="0" i="0" sz="2000" u="none" cap="none" strike="noStrike"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53" name="Google Shape;153;g33f03b2c2ca_0_27"/>
          <p:cNvPicPr preferRelativeResize="0"/>
          <p:nvPr/>
        </p:nvPicPr>
        <p:blipFill rotWithShape="1">
          <a:blip r:embed="rId3">
            <a:alphaModFix/>
          </a:blip>
          <a:srcRect b="0" l="0" r="63170" t="0"/>
          <a:stretch/>
        </p:blipFill>
        <p:spPr>
          <a:xfrm>
            <a:off x="3150375" y="706500"/>
            <a:ext cx="2151326" cy="479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g33f03b2c2ca_0_27"/>
          <p:cNvPicPr preferRelativeResize="0"/>
          <p:nvPr/>
        </p:nvPicPr>
        <p:blipFill rotWithShape="1">
          <a:blip r:embed="rId3">
            <a:alphaModFix/>
          </a:blip>
          <a:srcRect b="0" l="60148" r="0" t="0"/>
          <a:stretch/>
        </p:blipFill>
        <p:spPr>
          <a:xfrm>
            <a:off x="5216024" y="706500"/>
            <a:ext cx="2327776" cy="479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3f03b2c2ca_0_34"/>
          <p:cNvSpPr txBox="1"/>
          <p:nvPr/>
        </p:nvSpPr>
        <p:spPr>
          <a:xfrm>
            <a:off x="0" y="0"/>
            <a:ext cx="914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9900FF"/>
                </a:solidFill>
                <a:latin typeface="Cambria"/>
                <a:ea typeface="Cambria"/>
                <a:cs typeface="Cambria"/>
                <a:sym typeface="Cambria"/>
              </a:rPr>
              <a:t>Java Type conversion and Type casting </a:t>
            </a:r>
            <a:endParaRPr b="1" i="0" sz="2400" u="none" cap="none" strike="noStrike">
              <a:solidFill>
                <a:srgbClr val="9900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0" name="Google Shape;160;g33f03b2c2ca_0_34"/>
          <p:cNvSpPr txBox="1"/>
          <p:nvPr/>
        </p:nvSpPr>
        <p:spPr>
          <a:xfrm>
            <a:off x="63975" y="757250"/>
            <a:ext cx="8832000" cy="60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Widening</a:t>
            </a:r>
            <a:r>
              <a:rPr b="0" i="0" lang="en-US" sz="2000" u="none" cap="none" strike="noStrike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 or Automatic </a:t>
            </a:r>
            <a:r>
              <a:rPr b="1" i="0" lang="en-US" sz="2000" u="none" cap="none" strike="noStrike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Type Conversion:</a:t>
            </a:r>
            <a:endParaRPr b="1" i="0" sz="2000" u="none" cap="none" strike="noStrike">
              <a:solidFill>
                <a:srgbClr val="0000F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mbria"/>
              <a:buChar char="●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Takes place when two data types are </a:t>
            </a:r>
            <a:r>
              <a:rPr b="0" i="0" lang="en-US" sz="2000" u="none" cap="none" strike="noStrike">
                <a:solidFill>
                  <a:srgbClr val="9900FF"/>
                </a:solidFill>
                <a:latin typeface="Cambria"/>
                <a:ea typeface="Cambria"/>
                <a:cs typeface="Cambria"/>
                <a:sym typeface="Cambria"/>
              </a:rPr>
              <a:t>automatically converted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. This happens when:</a:t>
            </a:r>
            <a:endParaRPr b="0" i="0" sz="2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556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mbria"/>
              <a:buChar char="○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The </a:t>
            </a:r>
            <a:r>
              <a:rPr b="0" i="0" lang="en-US" sz="2000" u="none" cap="none" strike="noStrike">
                <a:solidFill>
                  <a:srgbClr val="9900FF"/>
                </a:solidFill>
                <a:latin typeface="Cambria"/>
                <a:ea typeface="Cambria"/>
                <a:cs typeface="Cambria"/>
                <a:sym typeface="Cambria"/>
              </a:rPr>
              <a:t>two data types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are </a:t>
            </a:r>
            <a:r>
              <a:rPr b="0" i="0" lang="en-US" sz="2000" u="none" cap="none" strike="noStrike">
                <a:solidFill>
                  <a:srgbClr val="9900FF"/>
                </a:solidFill>
                <a:latin typeface="Cambria"/>
                <a:ea typeface="Cambria"/>
                <a:cs typeface="Cambria"/>
                <a:sym typeface="Cambria"/>
              </a:rPr>
              <a:t>compatible.</a:t>
            </a:r>
            <a:endParaRPr b="0" i="0" sz="2000" u="none" cap="none" strike="noStrike">
              <a:solidFill>
                <a:srgbClr val="9900F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556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mbria"/>
              <a:buChar char="○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When we </a:t>
            </a:r>
            <a:r>
              <a:rPr b="0" i="0" lang="en-US" sz="2000" u="none" cap="none" strike="noStrike">
                <a:solidFill>
                  <a:srgbClr val="9900FF"/>
                </a:solidFill>
                <a:latin typeface="Cambria"/>
                <a:ea typeface="Cambria"/>
                <a:cs typeface="Cambria"/>
                <a:sym typeface="Cambria"/>
              </a:rPr>
              <a:t>assign value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of a </a:t>
            </a:r>
            <a:r>
              <a:rPr b="0" i="0" lang="en-US" sz="2000" u="none" cap="none" strike="noStrike">
                <a:solidFill>
                  <a:srgbClr val="9900FF"/>
                </a:solidFill>
                <a:latin typeface="Cambria"/>
                <a:ea typeface="Cambria"/>
                <a:cs typeface="Cambria"/>
                <a:sym typeface="Cambria"/>
              </a:rPr>
              <a:t>smaller data type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to a</a:t>
            </a:r>
            <a:r>
              <a:rPr b="0" i="0" lang="en-US" sz="2000" u="none" cap="none" strike="noStrike">
                <a:solidFill>
                  <a:srgbClr val="9900FF"/>
                </a:solidFill>
                <a:latin typeface="Cambria"/>
                <a:ea typeface="Cambria"/>
                <a:cs typeface="Cambria"/>
                <a:sym typeface="Cambria"/>
              </a:rPr>
              <a:t> bigger data type.</a:t>
            </a:r>
            <a:endParaRPr b="0" i="0" sz="2000" u="none" cap="none" strike="noStrike">
              <a:solidFill>
                <a:srgbClr val="9900F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In java the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numeric data types are compatible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with each other but no automatic conversion is supported from numeric type to char or boolean</a:t>
            </a:r>
            <a:endParaRPr b="0" i="0" sz="2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61" name="Google Shape;161;g33f03b2c2ca_0_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6900" y="3558650"/>
            <a:ext cx="5229225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g33f03b2c2ca_0_34"/>
          <p:cNvSpPr txBox="1"/>
          <p:nvPr/>
        </p:nvSpPr>
        <p:spPr>
          <a:xfrm>
            <a:off x="3181450" y="4394250"/>
            <a:ext cx="30000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int x=30;</a:t>
            </a:r>
            <a:endParaRPr b="0" i="0" sz="19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float y;</a:t>
            </a:r>
            <a:endParaRPr b="0" i="0" sz="19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y=x;  // y==30.000000.</a:t>
            </a:r>
            <a:endParaRPr b="0" i="0" sz="19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3f03b2c2ca_0_41"/>
          <p:cNvSpPr txBox="1"/>
          <p:nvPr/>
        </p:nvSpPr>
        <p:spPr>
          <a:xfrm>
            <a:off x="0" y="0"/>
            <a:ext cx="914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9900FF"/>
                </a:solidFill>
                <a:latin typeface="Cambria"/>
                <a:ea typeface="Cambria"/>
                <a:cs typeface="Cambria"/>
                <a:sym typeface="Cambria"/>
              </a:rPr>
              <a:t>Java Type conversion and Type casting </a:t>
            </a:r>
            <a:endParaRPr b="1" i="0" sz="2400" u="none" cap="none" strike="noStrike">
              <a:solidFill>
                <a:srgbClr val="9900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8" name="Google Shape;168;g33f03b2c2ca_0_41"/>
          <p:cNvSpPr txBox="1"/>
          <p:nvPr/>
        </p:nvSpPr>
        <p:spPr>
          <a:xfrm>
            <a:off x="63975" y="757250"/>
            <a:ext cx="88854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Narrowing</a:t>
            </a:r>
            <a:r>
              <a:rPr b="0" i="0" lang="en-US" sz="2000" u="none" cap="none" strike="noStrike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 or Explicit </a:t>
            </a:r>
            <a:r>
              <a:rPr b="1" i="0" lang="en-US" sz="2000" u="none" cap="none" strike="noStrike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Type Casting:</a:t>
            </a:r>
            <a:endParaRPr b="1" i="0" sz="2000" u="none" cap="none" strike="noStrike">
              <a:solidFill>
                <a:srgbClr val="0000F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mbria"/>
              <a:buChar char="●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If we want to </a:t>
            </a:r>
            <a:r>
              <a:rPr b="0" i="0" lang="en-US" sz="2000" u="none" cap="none" strike="noStrike">
                <a:solidFill>
                  <a:srgbClr val="9900FF"/>
                </a:solidFill>
                <a:latin typeface="Cambria"/>
                <a:ea typeface="Cambria"/>
                <a:cs typeface="Cambria"/>
                <a:sym typeface="Cambria"/>
              </a:rPr>
              <a:t>assign a value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of </a:t>
            </a:r>
            <a:r>
              <a:rPr b="0" i="0" lang="en-US" sz="2000" u="none" cap="none" strike="noStrike">
                <a:solidFill>
                  <a:srgbClr val="9900FF"/>
                </a:solidFill>
                <a:latin typeface="Cambria"/>
                <a:ea typeface="Cambria"/>
                <a:cs typeface="Cambria"/>
                <a:sym typeface="Cambria"/>
              </a:rPr>
              <a:t>larger data type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to a </a:t>
            </a:r>
            <a:r>
              <a:rPr b="0" i="0" lang="en-US" sz="2000" u="none" cap="none" strike="noStrike">
                <a:solidFill>
                  <a:srgbClr val="9900FF"/>
                </a:solidFill>
                <a:latin typeface="Cambria"/>
                <a:ea typeface="Cambria"/>
                <a:cs typeface="Cambria"/>
                <a:sym typeface="Cambria"/>
              </a:rPr>
              <a:t>smaller data type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we perform </a:t>
            </a:r>
            <a:r>
              <a:rPr b="0" i="0" lang="en-US" sz="2000" u="none" cap="none" strike="noStrike">
                <a:solidFill>
                  <a:srgbClr val="9900FF"/>
                </a:solidFill>
                <a:latin typeface="Cambria"/>
                <a:ea typeface="Cambria"/>
                <a:cs typeface="Cambria"/>
                <a:sym typeface="Cambria"/>
              </a:rPr>
              <a:t>explicit type casting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or </a:t>
            </a:r>
            <a:r>
              <a:rPr b="0" i="0" lang="en-US" sz="2000" u="none" cap="none" strike="noStrike">
                <a:solidFill>
                  <a:srgbClr val="9900FF"/>
                </a:solidFill>
                <a:latin typeface="Cambria"/>
                <a:ea typeface="Cambria"/>
                <a:cs typeface="Cambria"/>
                <a:sym typeface="Cambria"/>
              </a:rPr>
              <a:t>narrowing.</a:t>
            </a:r>
            <a:endParaRPr b="0" i="0" sz="2000" u="none" cap="none" strike="noStrike">
              <a:solidFill>
                <a:srgbClr val="9900F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mbria"/>
              <a:buChar char="●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This is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useful for incompatible data types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where automatic conversion cannot be done.</a:t>
            </a:r>
            <a:endParaRPr b="0" i="0" sz="2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mbria"/>
              <a:buChar char="●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Here, target-type specifies the desired type to convert the specified value to.</a:t>
            </a:r>
            <a:endParaRPr b="0" i="0" sz="2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9" name="Google Shape;169;g33f03b2c2ca_0_41"/>
          <p:cNvSpPr txBox="1"/>
          <p:nvPr/>
        </p:nvSpPr>
        <p:spPr>
          <a:xfrm>
            <a:off x="2829475" y="4479575"/>
            <a:ext cx="3000000" cy="17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float x;</a:t>
            </a:r>
            <a:endParaRPr b="0" i="0" sz="19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int y;</a:t>
            </a:r>
            <a:endParaRPr b="0" i="0" sz="19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y=(int)x;</a:t>
            </a:r>
            <a:endParaRPr b="0" i="0" sz="19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0" name="Google Shape;170;g33f03b2c2ca_0_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2250" y="3949350"/>
            <a:ext cx="5153025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3f03b2c2ca_0_48"/>
          <p:cNvSpPr txBox="1"/>
          <p:nvPr/>
        </p:nvSpPr>
        <p:spPr>
          <a:xfrm>
            <a:off x="0" y="0"/>
            <a:ext cx="914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9900FF"/>
                </a:solidFill>
                <a:latin typeface="Cambria"/>
                <a:ea typeface="Cambria"/>
                <a:cs typeface="Cambria"/>
                <a:sym typeface="Cambria"/>
              </a:rPr>
              <a:t>Enum in java</a:t>
            </a:r>
            <a:endParaRPr b="1" i="0" sz="2400" u="none" cap="none" strike="noStrike">
              <a:solidFill>
                <a:srgbClr val="9900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6" name="Google Shape;176;g33f03b2c2ca_0_48"/>
          <p:cNvSpPr txBox="1"/>
          <p:nvPr/>
        </p:nvSpPr>
        <p:spPr>
          <a:xfrm>
            <a:off x="63975" y="757250"/>
            <a:ext cx="90801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mbria"/>
              <a:buChar char="●"/>
            </a:pPr>
            <a:r>
              <a:rPr b="0" i="0" lang="en-US" sz="2000" u="none" cap="none" strike="noStrike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Enum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in java is a </a:t>
            </a:r>
            <a:r>
              <a:rPr b="0" i="0" lang="en-US" sz="2000" u="none" cap="none" strike="noStrike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data type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that </a:t>
            </a:r>
            <a:r>
              <a:rPr b="0" i="0" lang="en-US" sz="2000" u="none" cap="none" strike="noStrike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contains fixed set of constants</a:t>
            </a:r>
            <a:endParaRPr b="0" i="0" sz="2000" u="none" cap="none" strike="noStrike">
              <a:solidFill>
                <a:srgbClr val="0000F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mbria"/>
              <a:buChar char="●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It can be used for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days of the week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(</a:t>
            </a:r>
            <a:r>
              <a:rPr b="0" i="0" lang="en-US" sz="2000" u="none" cap="none" strike="noStrike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SUNDAY, MONDAY, TUESDAY, WEDNESDAY, THURSDAY, FRIDAY, SATURDAY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) ,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directions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(</a:t>
            </a:r>
            <a:r>
              <a:rPr b="0" i="0" lang="en-US" sz="2000" u="none" cap="none" strike="noStrike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NORTH, SOUTH, EAST, WEST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) etc. </a:t>
            </a:r>
            <a:endParaRPr b="0" i="0" sz="2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mbria"/>
              <a:buChar char="●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The </a:t>
            </a:r>
            <a:r>
              <a:rPr b="0" i="0" lang="en-US" sz="2000" u="none" cap="none" strike="noStrike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java enum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constants are </a:t>
            </a:r>
            <a:r>
              <a:rPr b="0" i="0" lang="en-US" sz="2000" u="none" cap="none" strike="noStrike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static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and </a:t>
            </a:r>
            <a:r>
              <a:rPr b="0" i="0" lang="en-US" sz="2000" u="none" cap="none" strike="noStrike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final implicitly. </a:t>
            </a:r>
            <a:endParaRPr b="0" i="0" sz="2000" u="none" cap="none" strike="noStrike">
              <a:solidFill>
                <a:srgbClr val="0000F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mbria"/>
              <a:buChar char="●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Java Enums can be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thought of as classes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that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have fixed set of constants.</a:t>
            </a:r>
            <a:endParaRPr b="0" i="0" sz="2000" u="none" cap="none" strike="noStrike"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3f03b2c2ca_0_53"/>
          <p:cNvSpPr txBox="1"/>
          <p:nvPr/>
        </p:nvSpPr>
        <p:spPr>
          <a:xfrm>
            <a:off x="0" y="0"/>
            <a:ext cx="914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9900FF"/>
                </a:solidFill>
                <a:latin typeface="Cambria"/>
                <a:ea typeface="Cambria"/>
                <a:cs typeface="Cambria"/>
                <a:sym typeface="Cambria"/>
              </a:rPr>
              <a:t>Enum in java</a:t>
            </a:r>
            <a:endParaRPr b="1" i="0" sz="2400" u="none" cap="none" strike="noStrike">
              <a:solidFill>
                <a:srgbClr val="9900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2" name="Google Shape;182;g33f03b2c2ca_0_53"/>
          <p:cNvSpPr txBox="1"/>
          <p:nvPr/>
        </p:nvSpPr>
        <p:spPr>
          <a:xfrm>
            <a:off x="63975" y="757250"/>
            <a:ext cx="9080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Simple example of java enum</a:t>
            </a:r>
            <a:endParaRPr b="1" i="0" sz="2000" u="none" cap="none" strike="noStrike"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3" name="Google Shape;183;g33f03b2c2ca_0_53"/>
          <p:cNvSpPr txBox="1"/>
          <p:nvPr/>
        </p:nvSpPr>
        <p:spPr>
          <a:xfrm>
            <a:off x="523950" y="1386525"/>
            <a:ext cx="8096100" cy="42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 EnumExample1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public enum Season { WINTER, SPRING, SUMMER, FALL }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public static void main(String[] args)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(Season s : Season.values())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System.out.println(s);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4" name="Google Shape;184;g33f03b2c2ca_0_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71713" y="5036825"/>
            <a:ext cx="1571625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3f03b2c2ca_0_60"/>
          <p:cNvSpPr txBox="1"/>
          <p:nvPr/>
        </p:nvSpPr>
        <p:spPr>
          <a:xfrm>
            <a:off x="0" y="0"/>
            <a:ext cx="914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9900FF"/>
                </a:solidFill>
                <a:latin typeface="Cambria"/>
                <a:ea typeface="Cambria"/>
                <a:cs typeface="Cambria"/>
                <a:sym typeface="Cambria"/>
              </a:rPr>
              <a:t>Control Flow Statements</a:t>
            </a:r>
            <a:endParaRPr b="1" i="0" sz="2400" u="none" cap="none" strike="noStrike">
              <a:solidFill>
                <a:srgbClr val="9900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90" name="Google Shape;190;g33f03b2c2ca_0_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706500"/>
            <a:ext cx="8519650" cy="581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3f03b2c2ca_0_65"/>
          <p:cNvSpPr txBox="1"/>
          <p:nvPr/>
        </p:nvSpPr>
        <p:spPr>
          <a:xfrm>
            <a:off x="0" y="0"/>
            <a:ext cx="914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9900FF"/>
                </a:solidFill>
                <a:latin typeface="Cambria"/>
                <a:ea typeface="Cambria"/>
                <a:cs typeface="Cambria"/>
                <a:sym typeface="Cambria"/>
              </a:rPr>
              <a:t>Declaring Arrays</a:t>
            </a:r>
            <a:endParaRPr b="1" i="0" sz="2400" u="none" cap="none" strike="noStrike">
              <a:solidFill>
                <a:srgbClr val="9900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6" name="Google Shape;196;g33f03b2c2ca_0_65"/>
          <p:cNvSpPr txBox="1"/>
          <p:nvPr/>
        </p:nvSpPr>
        <p:spPr>
          <a:xfrm>
            <a:off x="63975" y="757250"/>
            <a:ext cx="9080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Declaring Array Variables:</a:t>
            </a:r>
            <a:endParaRPr b="0" i="0" sz="2000" u="none" cap="none" strike="noStrike"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7" name="Google Shape;197;g33f03b2c2ca_0_65"/>
          <p:cNvSpPr txBox="1"/>
          <p:nvPr/>
        </p:nvSpPr>
        <p:spPr>
          <a:xfrm>
            <a:off x="523950" y="1386525"/>
            <a:ext cx="8096100" cy="46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datatype arrayRefVar[ ];</a:t>
            </a:r>
            <a:endParaRPr b="0" i="0" sz="18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or</a:t>
            </a:r>
            <a:endParaRPr b="0" i="0" sz="18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dataType[ ] arrayRefVar; </a:t>
            </a:r>
            <a:endParaRPr b="0" i="0" sz="1800" u="none" cap="none" strike="noStrik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int[ ] myList={1,2,3,4,5};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or 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int myList[ ]={1,2,3,4,5};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datatype arrayRefVar = new dataType[arraySize]; </a:t>
            </a:r>
            <a:endParaRPr b="0" i="0" sz="18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int myList=new int[ ]{1,2,3,4,5}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g33f03b2c2ca_0_65"/>
          <p:cNvSpPr txBox="1"/>
          <p:nvPr/>
        </p:nvSpPr>
        <p:spPr>
          <a:xfrm>
            <a:off x="63975" y="4367550"/>
            <a:ext cx="6188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Creating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Arrays: //allocating memory to array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000" u="none" cap="none" strike="noStrike"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3f03b2c2ca_0_72"/>
          <p:cNvSpPr txBox="1"/>
          <p:nvPr/>
        </p:nvSpPr>
        <p:spPr>
          <a:xfrm>
            <a:off x="0" y="0"/>
            <a:ext cx="914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9900FF"/>
                </a:solidFill>
                <a:latin typeface="Cambria"/>
                <a:ea typeface="Cambria"/>
                <a:cs typeface="Cambria"/>
                <a:sym typeface="Cambria"/>
              </a:rPr>
              <a:t>Processing Arrays</a:t>
            </a:r>
            <a:endParaRPr b="1" i="0" sz="2400" u="none" cap="none" strike="noStrike">
              <a:solidFill>
                <a:srgbClr val="9900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04" name="Google Shape;204;g33f03b2c2ca_0_72"/>
          <p:cNvSpPr txBox="1"/>
          <p:nvPr/>
        </p:nvSpPr>
        <p:spPr>
          <a:xfrm>
            <a:off x="63975" y="757250"/>
            <a:ext cx="9080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For Loop:</a:t>
            </a:r>
            <a:endParaRPr b="0" i="0" sz="2000" u="none" cap="none" strike="noStrike"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05" name="Google Shape;205;g33f03b2c2ca_0_72"/>
          <p:cNvSpPr txBox="1"/>
          <p:nvPr/>
        </p:nvSpPr>
        <p:spPr>
          <a:xfrm>
            <a:off x="523950" y="1386525"/>
            <a:ext cx="8096100" cy="46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for (int i = 0; i &lt; myList.length; i++) </a:t>
            </a:r>
            <a:endParaRPr b="0" i="0" sz="1800" u="none" cap="none" strike="noStrik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18288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800" u="none" cap="none" strike="noStrik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2286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System.out.println(myList[i] + " ");</a:t>
            </a:r>
            <a:endParaRPr b="0" i="0" sz="1800" u="none" cap="none" strike="noStrik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18288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800" u="none" cap="none" strike="noStrik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Or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18288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for (int element: myList) </a:t>
            </a:r>
            <a:endParaRPr b="0" i="0" sz="1800" u="none" cap="none" strike="noStrik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286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800" u="none" cap="none" strike="noStrik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2286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System.out.println(element);</a:t>
            </a:r>
            <a:endParaRPr b="0" i="0" sz="1800" u="none" cap="none" strike="noStrik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286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800" u="none" cap="none" strike="noStrik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3f03b2c2ca_0_78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Java main() Method – public static void main(String[] args)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g33f03b2c2ca_0_78"/>
          <p:cNvSpPr txBox="1"/>
          <p:nvPr/>
        </p:nvSpPr>
        <p:spPr>
          <a:xfrm>
            <a:off x="149325" y="639950"/>
            <a:ext cx="884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Java’s main() method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the starting point from where the 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JVM 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starts the execution of a Java program.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2" name="Google Shape;212;g33f03b2c2ca_0_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4988" y="1224550"/>
            <a:ext cx="79914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g33f03b2c2ca_0_78"/>
          <p:cNvSpPr txBox="1"/>
          <p:nvPr/>
        </p:nvSpPr>
        <p:spPr>
          <a:xfrm>
            <a:off x="149325" y="4500900"/>
            <a:ext cx="8938500" cy="18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1. Public </a:t>
            </a:r>
            <a:endParaRPr b="1" i="0" sz="17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is an </a:t>
            </a:r>
            <a:r>
              <a:rPr b="1" i="0" lang="en-US" sz="15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Access modifier</a:t>
            </a:r>
            <a:r>
              <a:rPr b="0" i="0" lang="en-US" sz="15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which specifies from where and who can access the method. Making the main() method public makes it</a:t>
            </a:r>
            <a:r>
              <a:rPr b="0" i="0" lang="en-US" sz="15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 globally available</a:t>
            </a: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It is made public so that JVM can invoke it from outside the class as it is not present in the current class.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the main method is </a:t>
            </a: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not public</a:t>
            </a: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it’s </a:t>
            </a: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access is restricted.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3f03b2c2ca_0_85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Java main() Method – public static void main(String[] args)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g33f03b2c2ca_0_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200" y="669925"/>
            <a:ext cx="79914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g33f03b2c2ca_0_85"/>
          <p:cNvSpPr txBox="1"/>
          <p:nvPr/>
        </p:nvSpPr>
        <p:spPr>
          <a:xfrm>
            <a:off x="149325" y="4500900"/>
            <a:ext cx="8938500" cy="20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2. Static</a:t>
            </a:r>
            <a:endParaRPr b="1" i="0" sz="17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is a </a:t>
            </a:r>
            <a:r>
              <a:rPr b="1" i="0" lang="en-US" sz="15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keyword</a:t>
            </a:r>
            <a:r>
              <a:rPr b="0" i="1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that is when associated with a method, making it a </a:t>
            </a:r>
            <a:r>
              <a:rPr b="1" i="0" lang="en-US" sz="15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class-related method</a:t>
            </a: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The </a:t>
            </a:r>
            <a:r>
              <a:rPr b="0" i="1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main()</a:t>
            </a: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method is static so that JVM can invoke it without </a:t>
            </a:r>
            <a:r>
              <a:rPr b="1" i="0" lang="en-US" sz="15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instantiating the class</a:t>
            </a:r>
            <a:r>
              <a:rPr b="0" i="0" lang="en-US" sz="15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also </a:t>
            </a:r>
            <a:r>
              <a:rPr b="0" i="0" lang="en-US" sz="15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saves the unnecessary wastage of memory</a:t>
            </a: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which would have been used by the object declared only for calling the </a:t>
            </a:r>
            <a:r>
              <a:rPr b="0" i="1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main()</a:t>
            </a: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method by the JVM.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you try to run Java code where </a:t>
            </a: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main is not static</a:t>
            </a: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you will </a:t>
            </a: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get an error.</a:t>
            </a:r>
            <a:endParaRPr b="1" i="0" sz="21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3f03b2c2ca_0_91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Java main() Method – public static void main(String[] args)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6" name="Google Shape;226;g33f03b2c2ca_0_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200" y="669925"/>
            <a:ext cx="79914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g33f03b2c2ca_0_91"/>
          <p:cNvSpPr txBox="1"/>
          <p:nvPr/>
        </p:nvSpPr>
        <p:spPr>
          <a:xfrm>
            <a:off x="149325" y="4500900"/>
            <a:ext cx="8938500" cy="20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3. Void </a:t>
            </a:r>
            <a:endParaRPr b="1" i="0" sz="17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is a </a:t>
            </a:r>
            <a:r>
              <a:rPr b="1" i="0" lang="en-US" sz="15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keyword</a:t>
            </a:r>
            <a:r>
              <a:rPr b="1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is used to </a:t>
            </a:r>
            <a:r>
              <a:rPr b="1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specify that a</a:t>
            </a:r>
            <a:r>
              <a:rPr b="1" i="0" lang="en-US" sz="15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 method doesn’t return anything</a:t>
            </a: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As the </a:t>
            </a:r>
            <a:r>
              <a:rPr b="0" i="1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main()</a:t>
            </a: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method doesn’t return anything, its return type is </a:t>
            </a:r>
            <a:r>
              <a:rPr b="1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As soon as the </a:t>
            </a:r>
            <a:r>
              <a:rPr b="0" i="1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main()</a:t>
            </a: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method terminates, the Java program terminates too. Hence, it doesn’t make any sense to return from the </a:t>
            </a:r>
            <a:r>
              <a:rPr b="0" i="1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main()</a:t>
            </a: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method as JVM can’t do anything with its return value of it.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main method is </a:t>
            </a: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not void,</a:t>
            </a: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we will </a:t>
            </a: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get an error.</a:t>
            </a:r>
            <a:endParaRPr b="1" i="0" sz="21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3f03b2c2ca_0_97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Java main() Method – public static void main(String[] args)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3" name="Google Shape;233;g33f03b2c2ca_0_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200" y="669925"/>
            <a:ext cx="79914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g33f03b2c2ca_0_97"/>
          <p:cNvSpPr txBox="1"/>
          <p:nvPr/>
        </p:nvSpPr>
        <p:spPr>
          <a:xfrm>
            <a:off x="149325" y="4500900"/>
            <a:ext cx="8938500" cy="15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4. main </a:t>
            </a:r>
            <a:endParaRPr b="1" i="0" sz="17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is the </a:t>
            </a:r>
            <a:r>
              <a:rPr b="1" i="0" lang="en-US" sz="15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name of the Java main method</a:t>
            </a: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It is the </a:t>
            </a:r>
            <a:r>
              <a:rPr b="1" i="0" lang="en-US" sz="15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identifier</a:t>
            </a:r>
            <a:r>
              <a:rPr b="1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that the JVM looks for as the </a:t>
            </a:r>
            <a:r>
              <a:rPr b="1" i="0" lang="en-US" sz="15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starting point of the Java program</a:t>
            </a: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It’s not a keyword.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we </a:t>
            </a: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change the name</a:t>
            </a: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while initiating main method, we will </a:t>
            </a: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get an error.</a:t>
            </a:r>
            <a:endParaRPr b="1" i="0" sz="21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3f03b2c2ca_0_103"/>
          <p:cNvSpPr txBox="1"/>
          <p:nvPr/>
        </p:nvSpPr>
        <p:spPr>
          <a:xfrm>
            <a:off x="0" y="0"/>
            <a:ext cx="908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Java main() Method – public static void main(String[] args)</a:t>
            </a:r>
            <a:endParaRPr b="1" i="0" sz="23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0" name="Google Shape;240;g33f03b2c2ca_0_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200" y="669925"/>
            <a:ext cx="79914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g33f03b2c2ca_0_103"/>
          <p:cNvSpPr txBox="1"/>
          <p:nvPr/>
        </p:nvSpPr>
        <p:spPr>
          <a:xfrm>
            <a:off x="149325" y="4500900"/>
            <a:ext cx="89385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5. String[] args </a:t>
            </a:r>
            <a:endParaRPr b="1" i="0" sz="18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</a:t>
            </a: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stores </a:t>
            </a:r>
            <a:r>
              <a:rPr b="1" i="0" lang="en-US" sz="16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Java command-line</a:t>
            </a:r>
            <a:r>
              <a:rPr b="1" i="1" lang="en-US" sz="16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arguments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is an </a:t>
            </a:r>
            <a:r>
              <a:rPr b="0" i="0" lang="en-US" sz="16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array of type </a:t>
            </a:r>
            <a:r>
              <a:rPr b="1" i="1" lang="en-US" sz="16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java.lang.String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class. Here, the </a:t>
            </a:r>
            <a:r>
              <a:rPr b="0" i="0" lang="en-US" sz="16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name of the String array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</a:t>
            </a:r>
            <a:r>
              <a:rPr b="0" i="1" lang="en-US" sz="16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args</a:t>
            </a: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 it is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not fixed 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the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user can use any name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 place of it.</a:t>
            </a:r>
            <a:endParaRPr b="1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g33f03b2c2ca_0_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6350" y="53800"/>
            <a:ext cx="8104576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g33f03b2c2ca_0_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2125" y="76200"/>
            <a:ext cx="8478601" cy="670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1-Fundamentals-of-OOP-Object-Oriented-Programming-31-2048.jpg" id="256" name="Google Shape;256;g33f03b2c2ca_0_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6-Fundamentals-of-OOP-Object-Oriented-Programming-36-2048.jpg" id="261" name="Google Shape;261;g33f03b2c2ca_0_1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46-Fundamentals-of-OOP-Object-Oriented-Programming-46-2048.jpg" id="266" name="Google Shape;266;g33f03b2c2ca_0_1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47-Fundamentals-of-OOP-Object-Oriented-Programming-47-2048.jpg" id="271" name="Google Shape;271;g33f03b2c2ca_0_1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