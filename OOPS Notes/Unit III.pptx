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6858000" cx="9144000"/>
  <p:notesSz cx="6858000" cy="9144000"/>
  <p:embeddedFontLst>
    <p:embeddedFont>
      <p:font typeface="Nunit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imqj+Pz9GW9rkq0k39CnIXY17j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82F0F4-EAC0-4E94-A17E-CF89BAD924C3}">
  <a:tblStyle styleId="{4282F0F4-EAC0-4E94-A17E-CF89BAD924C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Nunito-regular.fntdata"/><Relationship Id="rId47" Type="http://schemas.openxmlformats.org/officeDocument/2006/relationships/slide" Target="slides/slide41.xml"/><Relationship Id="rId49" Type="http://schemas.openxmlformats.org/officeDocument/2006/relationships/font" Target="fonts/Nuni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Nunito-boldItalic.fntdata"/><Relationship Id="rId50" Type="http://schemas.openxmlformats.org/officeDocument/2006/relationships/font" Target="fonts/Nunito-italic.fntdata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3561f7512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3561f7512c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561f7512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3561f7512c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2989cceed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2989cceed1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989cceed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2989cceed1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989cceed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2989cceed1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989cceed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2989cceed1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f37ed090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2f37ed090d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f37ed090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32f37ed090d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2f37ed090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2f37ed090d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f37ed090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2f37ed090d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f37ed090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2f37ed090d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2f37ed090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2f37ed090d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f37ed090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g32f37ed090d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f37ed090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2f37ed090d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f37ed090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32f37ed090d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f37ed090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2f37ed090d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f37ed090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32f37ed090d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f57c14d7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2f57c14d7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f57c14d7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2f57c14d78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2f57c14d7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2f57c14d78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2f57c14d7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2f57c14d78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561f751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33561f7512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3561f7512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g33561f7512c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3561f7512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3561f7512c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3561f7512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g33561f7512c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3561f7512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g33561f7512c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2fc3c7d3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32fc3c7d32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fc3c7d32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g32fc3c7d326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2fc3c7d32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g32fc3c7d326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2fc3c7d32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g32fc3c7d326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2fc3c7d32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g32fc3c7d326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33aa48bcd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g333aa48bcd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2fc3c7d32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g32fc3c7d326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3aad184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g333aad1842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33aad1842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g333aad18422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33aad1842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g333aad18422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33aad1842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g333aad18422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33aad1842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g333aad18422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33aad1842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g333aad18422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33aad1842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4" name="Google Shape;354;g333aad18422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7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javatpoint.com/object-and-class-in-java" TargetMode="External"/><Relationship Id="rId4" Type="http://schemas.openxmlformats.org/officeDocument/2006/relationships/hyperlink" Target="https://www.javatpoint.com/object-and-class-in-java" TargetMode="External"/><Relationship Id="rId5" Type="http://schemas.openxmlformats.org/officeDocument/2006/relationships/hyperlink" Target="https://www.javatpoint.com/java-string" TargetMode="External"/><Relationship Id="rId6" Type="http://schemas.openxmlformats.org/officeDocument/2006/relationships/hyperlink" Target="https://www.javatpoint.com/java-string" TargetMode="External"/><Relationship Id="rId7" Type="http://schemas.openxmlformats.org/officeDocument/2006/relationships/hyperlink" Target="https://www.javatpoint.com/java-printwriter-class" TargetMode="External"/><Relationship Id="rId8" Type="http://schemas.openxmlformats.org/officeDocument/2006/relationships/hyperlink" Target="https://www.javatpoint.com/java-printwriter-class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geeksforgeeks.org/scanner-nextboolean-method-in-java-with-examples/" TargetMode="External"/><Relationship Id="rId4" Type="http://schemas.openxmlformats.org/officeDocument/2006/relationships/hyperlink" Target="https://www.geeksforgeeks.org/scanner-nextbyte-method-in-java-with-examples/" TargetMode="External"/><Relationship Id="rId10" Type="http://schemas.openxmlformats.org/officeDocument/2006/relationships/hyperlink" Target="https://www.geeksforgeeks.org/scanner-nextshort-method-in-java-with-examples/" TargetMode="External"/><Relationship Id="rId9" Type="http://schemas.openxmlformats.org/officeDocument/2006/relationships/hyperlink" Target="https://www.geeksforgeeks.org/scanner-nextlong-method-in-java-with-examples/" TargetMode="External"/><Relationship Id="rId5" Type="http://schemas.openxmlformats.org/officeDocument/2006/relationships/hyperlink" Target="https://www.geeksforgeeks.org/scanner-nextdouble-method-in-java-with-examples/" TargetMode="External"/><Relationship Id="rId6" Type="http://schemas.openxmlformats.org/officeDocument/2006/relationships/hyperlink" Target="https://www.geeksforgeeks.org/scanner-nextfloat-method-in-java-with-examples/" TargetMode="External"/><Relationship Id="rId7" Type="http://schemas.openxmlformats.org/officeDocument/2006/relationships/hyperlink" Target="https://www.geeksforgeeks.org/scanner-nextint-method-in-java-with-examples/" TargetMode="External"/><Relationship Id="rId8" Type="http://schemas.openxmlformats.org/officeDocument/2006/relationships/hyperlink" Target="https://www.geeksforgeeks.org/scanner-nextline-method-in-java-with-examples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54925" y="1905000"/>
            <a:ext cx="7694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Unit III: </a:t>
            </a:r>
            <a:r>
              <a:rPr lang="en-US" sz="32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Classes and Objects</a:t>
            </a:r>
            <a:endParaRPr b="0" i="0" sz="3200" u="none" cap="none" strike="noStrike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561f7512c_0_21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-Methods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3561f7512c_0_21"/>
          <p:cNvSpPr txBox="1"/>
          <p:nvPr/>
        </p:nvSpPr>
        <p:spPr>
          <a:xfrm>
            <a:off x="74700" y="538800"/>
            <a:ext cx="893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3561f7512c_0_21"/>
          <p:cNvSpPr txBox="1"/>
          <p:nvPr/>
        </p:nvSpPr>
        <p:spPr>
          <a:xfrm>
            <a:off x="630625" y="1000425"/>
            <a:ext cx="72126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modifier returnType nameOfMethod (Parameter List)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method body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static int methodName(int a, int b)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body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3561f7512c_0_21"/>
          <p:cNvSpPr txBox="1"/>
          <p:nvPr/>
        </p:nvSpPr>
        <p:spPr>
          <a:xfrm>
            <a:off x="522250" y="4237000"/>
            <a:ext cx="8326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Here,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public static − modifier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int − return type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methodName − name of the method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int a, int b − list of parameters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561f7512c_0_28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-Methods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3561f7512c_0_28"/>
          <p:cNvSpPr txBox="1"/>
          <p:nvPr/>
        </p:nvSpPr>
        <p:spPr>
          <a:xfrm>
            <a:off x="74700" y="538800"/>
            <a:ext cx="8938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Call by Value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Call by Reference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Java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only call by value in java,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call by reference.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3561f7512c_0_28"/>
          <p:cNvSpPr txBox="1"/>
          <p:nvPr/>
        </p:nvSpPr>
        <p:spPr>
          <a:xfrm>
            <a:off x="423675" y="1315725"/>
            <a:ext cx="7212600" cy="5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Operation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 data=50;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void change(int data)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data=data+100;     //changes will be in the local variable only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static void main(String args[])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Operation op=new Operation();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System.out.println("before change "+op.data);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op.change(500);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System.out.println("after change "+op.data);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4-Fundamentals-of-OOP-Object-Oriented-Programming-44-2048.jpg" id="104" name="Google Shape;104;g32989cceed1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5-Fundamentals-of-OOP-Object-Oriented-Programming-45-2048.jpg" id="109" name="Google Shape;109;g32989cceed1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-76200"/>
            <a:ext cx="9144003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1-Fundamentals-of-OOP-Object-Oriented-Programming-41-2048.jpg" id="114" name="Google Shape;114;g32989cceed1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2-Fundamentals-of-OOP-Object-Oriented-Programming-42-2048.jpg" id="119" name="Google Shape;119;g32989cceed1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f37ed090d_0_26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Static Fields and Methods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2f37ed090d_0_26"/>
          <p:cNvSpPr txBox="1"/>
          <p:nvPr/>
        </p:nvSpPr>
        <p:spPr>
          <a:xfrm>
            <a:off x="74700" y="538800"/>
            <a:ext cx="8938500" cy="3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Static Fields and Methods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static keyword in java is used for memory management mainly.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static keyword belongs to the class than instance of the class.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static can be: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variable (also known as class variable)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method (also known as class method)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block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nested class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f37ed090d_0_32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static variable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2f37ed090d_0_32"/>
          <p:cNvSpPr txBox="1"/>
          <p:nvPr/>
        </p:nvSpPr>
        <p:spPr>
          <a:xfrm>
            <a:off x="74700" y="538800"/>
            <a:ext cx="89385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declare any variable as static, it is known static variable.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static variable can be used to refer the common property of all objects (that is not unique for each object) e.g. company name of employees,college name of students etc.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static variable gets memory only once in class area at the time of class loading.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makes your program memory efficient (i.e it saves memory).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2f37ed090d_0_32"/>
          <p:cNvSpPr txBox="1"/>
          <p:nvPr/>
        </p:nvSpPr>
        <p:spPr>
          <a:xfrm>
            <a:off x="147825" y="2289675"/>
            <a:ext cx="5301000" cy="3879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Student8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 rollno;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String name;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static String college ="ITS";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Student8(int r,String n)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rollno = r;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name = n;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void display ()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System.out.println(rollno+" "+name+" "+college);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2f37ed090d_0_32"/>
          <p:cNvSpPr txBox="1"/>
          <p:nvPr/>
        </p:nvSpPr>
        <p:spPr>
          <a:xfrm>
            <a:off x="5616450" y="2289675"/>
            <a:ext cx="3527700" cy="2662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static void main(String args[])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Student8 s1 = new Student8(111,"Karan");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Student8 s2 = new Student8(222,"Aryan");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s1.display();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s2.display();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 //class ends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f37ed090d_0_41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static method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2f37ed090d_0_41"/>
          <p:cNvSpPr txBox="1"/>
          <p:nvPr/>
        </p:nvSpPr>
        <p:spPr>
          <a:xfrm>
            <a:off x="74700" y="538800"/>
            <a:ext cx="8938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static method belongs to the class rather than object of a class.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static method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can be invoked without the need for creating an instance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a class.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method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can access static data member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can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change the value of it.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2f37ed090d_0_41"/>
          <p:cNvSpPr txBox="1"/>
          <p:nvPr/>
        </p:nvSpPr>
        <p:spPr>
          <a:xfrm>
            <a:off x="118275" y="1629500"/>
            <a:ext cx="5301000" cy="4802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Student9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 rollno;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String name;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static String college = "ITS";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static void change()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college = "BBDIT";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Student9(int r, String n)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rollno = r;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name = n;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void display ()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System.out.println(rollno+" "+name+" "+college);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2f37ed090d_0_41"/>
          <p:cNvSpPr txBox="1"/>
          <p:nvPr/>
        </p:nvSpPr>
        <p:spPr>
          <a:xfrm>
            <a:off x="5616450" y="2289675"/>
            <a:ext cx="3527700" cy="2662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static void main(String args[])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Student9 s1 = new Student9(111,"Karan");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Student9 s2 = new Student9(222,"Aryan");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s1.display();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s2.display();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 //class ends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2f37ed090d_0_48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static block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2f37ed090d_0_48"/>
          <p:cNvSpPr txBox="1"/>
          <p:nvPr/>
        </p:nvSpPr>
        <p:spPr>
          <a:xfrm>
            <a:off x="74700" y="538800"/>
            <a:ext cx="8938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used to initialize the static data member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executed before main method at the time of class loading.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2f37ed090d_0_48"/>
          <p:cNvSpPr txBox="1"/>
          <p:nvPr/>
        </p:nvSpPr>
        <p:spPr>
          <a:xfrm>
            <a:off x="118275" y="1629500"/>
            <a:ext cx="8326200" cy="341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A2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System.out.println("static block is invoked");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static void main(String args[])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System.out.println("Hello main");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f37ed090d_0_55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Access Modifiers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2f37ed090d_0_55"/>
          <p:cNvSpPr txBox="1"/>
          <p:nvPr/>
        </p:nvSpPr>
        <p:spPr>
          <a:xfrm>
            <a:off x="74700" y="538800"/>
            <a:ext cx="89385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4 types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java access modifiers: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private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default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protected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public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2f37ed090d_0_61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Access Modifiers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2f37ed090d_0_61"/>
          <p:cNvSpPr txBox="1"/>
          <p:nvPr/>
        </p:nvSpPr>
        <p:spPr>
          <a:xfrm>
            <a:off x="74700" y="538800"/>
            <a:ext cx="89385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private access modifier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private access modifier is accessible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only within class.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2f37ed090d_0_61"/>
          <p:cNvSpPr txBox="1"/>
          <p:nvPr/>
        </p:nvSpPr>
        <p:spPr>
          <a:xfrm>
            <a:off x="285775" y="1817675"/>
            <a:ext cx="3705000" cy="298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A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private int data=40;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private void msg()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	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System.out.println("Hello java");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2f37ed090d_0_61"/>
          <p:cNvSpPr txBox="1"/>
          <p:nvPr/>
        </p:nvSpPr>
        <p:spPr>
          <a:xfrm>
            <a:off x="4108900" y="1817675"/>
            <a:ext cx="4979100" cy="298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class Simple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static void main(String args[])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obj=new A();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System.out.println(obj.data);//Compile Time Error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obj.msg();//Compile Time Error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2f37ed090d_0_7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Access Modifiers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2f37ed090d_0_70"/>
          <p:cNvSpPr txBox="1"/>
          <p:nvPr/>
        </p:nvSpPr>
        <p:spPr>
          <a:xfrm>
            <a:off x="74700" y="538800"/>
            <a:ext cx="8938500" cy="1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default access modifier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don't use any modifier, it is treated as default by default.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default modifier is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accessible only within package.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Packages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a mechanism that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encapsulates a group of classes, sub-packages, and interfaces.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2f37ed090d_0_70"/>
          <p:cNvSpPr txBox="1"/>
          <p:nvPr/>
        </p:nvSpPr>
        <p:spPr>
          <a:xfrm>
            <a:off x="189800" y="2647875"/>
            <a:ext cx="3705000" cy="330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//save by </a:t>
            </a:r>
            <a:r>
              <a:rPr b="1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A.java</a:t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package pack;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A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void msg()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System.out.println("Hello");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2f37ed090d_0_70"/>
          <p:cNvSpPr txBox="1"/>
          <p:nvPr/>
        </p:nvSpPr>
        <p:spPr>
          <a:xfrm>
            <a:off x="4108800" y="2647875"/>
            <a:ext cx="4979100" cy="363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//save by </a:t>
            </a:r>
            <a:r>
              <a:rPr b="1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B.java</a:t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package mypack;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import pack.*;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B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static void main(String args[])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obj = new A();   //Compile Time Error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obj.msg();       //Compile Time Error 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f37ed090d_0_77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Access Modifiers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2f37ed090d_0_77"/>
          <p:cNvSpPr txBox="1"/>
          <p:nvPr/>
        </p:nvSpPr>
        <p:spPr>
          <a:xfrm>
            <a:off x="74700" y="538800"/>
            <a:ext cx="8938500" cy="1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protected access modifier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accessible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within package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outside the package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but through inheritance only.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protected access modifier can be applied on the data member, method and constructor. It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can't be applied on the class.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2f37ed090d_0_77"/>
          <p:cNvSpPr txBox="1"/>
          <p:nvPr/>
        </p:nvSpPr>
        <p:spPr>
          <a:xfrm>
            <a:off x="275925" y="2262825"/>
            <a:ext cx="3705000" cy="330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//save by </a:t>
            </a:r>
            <a:r>
              <a:rPr b="1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A.java</a:t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package pack;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class A  //Parent Class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protected void msg()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System.out.println("Hello");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2f37ed090d_0_77"/>
          <p:cNvSpPr txBox="1"/>
          <p:nvPr/>
        </p:nvSpPr>
        <p:spPr>
          <a:xfrm>
            <a:off x="4108800" y="2262825"/>
            <a:ext cx="4979100" cy="363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//save by </a:t>
            </a:r>
            <a:r>
              <a:rPr b="1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B.java</a:t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package mypack;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import pack.*;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B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extends</a:t>
            </a: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    //Child Class or Subclass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static void main(String args[])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 obj = new B();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obj.msg();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2f37ed090d_0_84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Access Modifiers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2f37ed090d_0_84"/>
          <p:cNvSpPr txBox="1"/>
          <p:nvPr/>
        </p:nvSpPr>
        <p:spPr>
          <a:xfrm>
            <a:off x="74700" y="538800"/>
            <a:ext cx="89385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public access modifier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accessible everywhere.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has the widest scope among all other modifiers.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2f37ed090d_0_84"/>
          <p:cNvSpPr txBox="1"/>
          <p:nvPr/>
        </p:nvSpPr>
        <p:spPr>
          <a:xfrm>
            <a:off x="275925" y="2262825"/>
            <a:ext cx="3705000" cy="330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//save by </a:t>
            </a:r>
            <a:r>
              <a:rPr b="1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A.java</a:t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package pack;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class A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void msg()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System.out.println("Hello");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2f37ed090d_0_84"/>
          <p:cNvSpPr txBox="1"/>
          <p:nvPr/>
        </p:nvSpPr>
        <p:spPr>
          <a:xfrm>
            <a:off x="4108800" y="2262825"/>
            <a:ext cx="4979100" cy="363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//save by </a:t>
            </a:r>
            <a:r>
              <a:rPr b="1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B.java</a:t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package mypack;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import pack.*;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B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static void main(String args[])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obj = new A();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obj.msg();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2f37ed090d_0_91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Understanding all java access modifiers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g32f37ed090d_0_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350" y="937550"/>
            <a:ext cx="8839203" cy="383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2f37ed090d_0_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Console Class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2f37ed090d_0_9"/>
          <p:cNvSpPr txBox="1"/>
          <p:nvPr/>
        </p:nvSpPr>
        <p:spPr>
          <a:xfrm>
            <a:off x="74700" y="538800"/>
            <a:ext cx="89385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to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get input from console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provides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methods to read texts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passwords.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read password using Console class, it will not be displayed to the user.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java.io.Console class is attached with system console internally.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2f37ed090d_0_9"/>
          <p:cNvSpPr txBox="1"/>
          <p:nvPr/>
        </p:nvSpPr>
        <p:spPr>
          <a:xfrm>
            <a:off x="472975" y="2148025"/>
            <a:ext cx="72126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import java.io.Console;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ReadStringTest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static void main(String args[])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Console c=System.console();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System.out.println("Enter your name: ");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 n=c.readLine();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char[ ] p=c.readPassword();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System.out.println("Welcome "+n);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2f57c14d78_0_1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Console Class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5" name="Google Shape;205;g32f57c14d78_0_1"/>
          <p:cNvGraphicFramePr/>
          <p:nvPr/>
        </p:nvGraphicFramePr>
        <p:xfrm>
          <a:off x="229650" y="80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{4282F0F4-EAC0-4E94-A17E-CF89BAD924C3}</a:tableStyleId>
              </a:tblPr>
              <a:tblGrid>
                <a:gridCol w="2876550"/>
                <a:gridCol w="59817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Console Class Methods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Description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Reader reader()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It is used to retrieve the reader</a:t>
                      </a:r>
                      <a:r>
                        <a:rPr lang="en-US" sz="1200" u="none" cap="none" strike="noStrike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hlinkClick r:id="rId3"/>
                        </a:rPr>
                        <a:t> </a:t>
                      </a:r>
                      <a:r>
                        <a:rPr lang="en-US" sz="1200" u="sng" cap="none" strike="noStrike">
                          <a:solidFill>
                            <a:schemeClr val="hlink"/>
                          </a:solidFill>
                          <a:hlinkClick r:id="rId4"/>
                        </a:rPr>
                        <a:t>object</a:t>
                      </a:r>
                      <a:r>
                        <a:rPr lang="en-US" sz="1200" u="none" cap="none" strike="noStrike"/>
                        <a:t> associated with the console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String readLine()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It is used to read a single line of text from the console.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String readLine(String fmt, Object... args)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It provides a formatted prompt then reads the single line of text from the console.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char[] readPassword()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It is used to read password that is not being displayed on the console.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char[] readPassword(String fmt, Object... args)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It provides a formatted prompt then reads the password that is not being displayed on the console.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Console format(String fmt, Object... args)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It is used to write a formatted</a:t>
                      </a:r>
                      <a:r>
                        <a:rPr lang="en-US" sz="1200" u="none" cap="none" strike="noStrike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hlinkClick r:id="rId5"/>
                        </a:rPr>
                        <a:t> </a:t>
                      </a:r>
                      <a:r>
                        <a:rPr lang="en-US" sz="1200" u="sng" cap="none" strike="noStrike">
                          <a:solidFill>
                            <a:schemeClr val="hlink"/>
                          </a:solidFill>
                          <a:hlinkClick r:id="rId6"/>
                        </a:rPr>
                        <a:t>string</a:t>
                      </a:r>
                      <a:r>
                        <a:rPr lang="en-US" sz="1200" u="none" cap="none" strike="noStrike"/>
                        <a:t> to the console output stream.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Console printf(String format, Object... args)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It is used to write a string to the console output stream.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PrintWriter writer()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It is used to retrieve the</a:t>
                      </a:r>
                      <a:r>
                        <a:rPr lang="en-US" sz="1200" u="none" cap="none" strike="noStrike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hlinkClick r:id="rId7"/>
                        </a:rPr>
                        <a:t> </a:t>
                      </a:r>
                      <a:r>
                        <a:rPr lang="en-US" sz="1200" u="sng" cap="none" strike="noStrike">
                          <a:solidFill>
                            <a:schemeClr val="hlink"/>
                          </a:solidFill>
                          <a:hlinkClick r:id="rId8"/>
                        </a:rPr>
                        <a:t>PrintWriter</a:t>
                      </a:r>
                      <a:r>
                        <a:rPr lang="en-US" sz="1200" u="none" cap="none" strike="noStrike"/>
                        <a:t> object associated with the console.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void flush()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It is used to flushes the console.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2f57c14d78_0_14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Scanner Class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2f57c14d78_0_14"/>
          <p:cNvSpPr txBox="1"/>
          <p:nvPr/>
        </p:nvSpPr>
        <p:spPr>
          <a:xfrm>
            <a:off x="74700" y="538800"/>
            <a:ext cx="8938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class in java.util package used for obtaining the input of the primitive types like int, double, etc. and strings.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the Scanner class in Java is the easiest way to read input in a Java program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2f57c14d78_0_14"/>
          <p:cNvSpPr txBox="1"/>
          <p:nvPr/>
        </p:nvSpPr>
        <p:spPr>
          <a:xfrm>
            <a:off x="472975" y="2148025"/>
            <a:ext cx="72126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java.util.Scanner;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ReadStringTest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static void main(String args[])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Scanner sc = new Scanner(System.in);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System.out.println("Enter your name: ");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 name = sc.nextLine();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System.out.println("Welcome "+name);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2f57c14d78_0_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Scanner Class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8" name="Google Shape;218;g32f57c14d78_0_9"/>
          <p:cNvGraphicFramePr/>
          <p:nvPr/>
        </p:nvGraphicFramePr>
        <p:xfrm>
          <a:off x="563250" y="98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{4282F0F4-EAC0-4E94-A17E-CF89BAD924C3}</a:tableStyleId>
              </a:tblPr>
              <a:tblGrid>
                <a:gridCol w="4008750"/>
                <a:gridCol w="400875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Scanner Class Methods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Description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hlinkClick r:id="rId3"/>
                        </a:rPr>
                        <a:t>nextBoolean()</a:t>
                      </a:r>
                      <a:r>
                        <a:rPr lang="en-US" sz="1500" u="none" cap="none" strike="noStrike"/>
                        <a:t>                       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Used for reading Boolean value                    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hlinkClick r:id="rId4"/>
                        </a:rPr>
                        <a:t>nextByte()</a:t>
                      </a:r>
                      <a:endParaRPr sz="1500" u="none" cap="none" strike="noStrike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Used for reading Byte value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hlinkClick r:id="rId5"/>
                        </a:rPr>
                        <a:t>nextDouble()</a:t>
                      </a:r>
                      <a:endParaRPr sz="1500" u="none" cap="none" strike="noStrike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Used for reading Double value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hlinkClick r:id="rId6"/>
                        </a:rPr>
                        <a:t>nextFloat()</a:t>
                      </a:r>
                      <a:endParaRPr sz="1500" u="none" cap="none" strike="noStrike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Used for reading Float value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hlinkClick r:id="rId7"/>
                        </a:rPr>
                        <a:t>nextInt()</a:t>
                      </a:r>
                      <a:endParaRPr sz="1500" u="none" cap="none" strike="noStrike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Used for reading Int value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hlinkClick r:id="rId8"/>
                        </a:rPr>
                        <a:t>nextLine()</a:t>
                      </a:r>
                      <a:endParaRPr sz="1500" u="none" cap="none" strike="noStrike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Used for reading Line value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hlinkClick r:id="rId9"/>
                        </a:rPr>
                        <a:t>nextLong()</a:t>
                      </a:r>
                      <a:endParaRPr sz="1500" u="none" cap="none" strike="noStrike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Used for reading Long value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hlinkClick r:id="rId10"/>
                        </a:rPr>
                        <a:t>nextShort()</a:t>
                      </a:r>
                      <a:endParaRPr sz="1500" u="none" cap="none" strike="noStrike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Used for reading Short value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2f57c14d78_0_37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Recursion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2f57c14d78_0_37"/>
          <p:cNvSpPr txBox="1"/>
          <p:nvPr/>
        </p:nvSpPr>
        <p:spPr>
          <a:xfrm>
            <a:off x="74700" y="538800"/>
            <a:ext cx="8938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Recursion in java is a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process in which a method calls itself continuously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method in java that calls itself is called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recursive method.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2f57c14d78_0_37"/>
          <p:cNvSpPr txBox="1"/>
          <p:nvPr/>
        </p:nvSpPr>
        <p:spPr>
          <a:xfrm>
            <a:off x="355650" y="1253100"/>
            <a:ext cx="7212600" cy="5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class RecursionExample3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static int factorial(int n)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(n == 1)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 1;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return(n * factorial(n-1));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static void main(String[] args)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System.out.println("Factorial of 5 is: "+factorial(5));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7-Fundamentals-of-OOP-Object-Oriented-Programming-37-2048.jpg" id="230" name="Google Shape;230;g33561f7512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8-Fundamentals-of-OOP-Object-Oriented-Programming-38-2048.jpg" id="235" name="Google Shape;235;g33561f7512c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9-Fundamentals-of-OOP-Object-Oriented-Programming-39-2048.jpg" id="240" name="Google Shape;240;g33561f7512c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0-Fundamentals-of-OOP-Object-Oriented-Programming-40-2048.jpg" id="245" name="Google Shape;245;g33561f7512c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6200"/>
            <a:ext cx="9144003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g33561f7512c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025" y="909625"/>
            <a:ext cx="8251151" cy="393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3561f7512c_0_16"/>
          <p:cNvSpPr txBox="1"/>
          <p:nvPr/>
        </p:nvSpPr>
        <p:spPr>
          <a:xfrm>
            <a:off x="0" y="0"/>
            <a:ext cx="8832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Difference between constructor and method in java</a:t>
            </a:r>
            <a:endParaRPr b="1" i="0" sz="19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2fc3c7d326_0_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Constructor Overloading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2fc3c7d326_0_0"/>
          <p:cNvSpPr txBox="1"/>
          <p:nvPr/>
        </p:nvSpPr>
        <p:spPr>
          <a:xfrm>
            <a:off x="74700" y="538800"/>
            <a:ext cx="89385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technique in Java in which a class can have any number of constructors that differ in parameter lists.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compiler differentiates these constructors by taking into account the number of parameters in the list and their type.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2fc3c7d326_0_0"/>
          <p:cNvSpPr txBox="1"/>
          <p:nvPr/>
        </p:nvSpPr>
        <p:spPr>
          <a:xfrm>
            <a:off x="265600" y="1819500"/>
            <a:ext cx="4178400" cy="4925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Student5{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 id;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String name;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 age;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Student5(int i,String n){</a:t>
            </a:r>
            <a:endParaRPr b="0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id = i;</a:t>
            </a:r>
            <a:endParaRPr b="0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name = n;</a:t>
            </a:r>
            <a:endParaRPr b="0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Student5(int i,String n,int a){</a:t>
            </a:r>
            <a:endParaRPr b="0" i="0" sz="14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id = i;</a:t>
            </a:r>
            <a:endParaRPr b="0" i="0" sz="14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name = n;</a:t>
            </a:r>
            <a:endParaRPr b="0" i="0" sz="14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age=a;</a:t>
            </a:r>
            <a:endParaRPr b="0" i="0" sz="14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void display()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{System.out.println(id+" "+name+" "+age);}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2fc3c7d326_0_0"/>
          <p:cNvSpPr txBox="1"/>
          <p:nvPr/>
        </p:nvSpPr>
        <p:spPr>
          <a:xfrm>
            <a:off x="4818350" y="1819500"/>
            <a:ext cx="4138500" cy="2662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static void main(String args[])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Student5 s1 = new Student5(111,"Karan");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Student5 s2 = new Student5(222,"Aryan",25);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s1.display();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s2.display();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2fc3c7d326_0_23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Method Overloading in java- Polymorphism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2fc3c7d326_0_23"/>
          <p:cNvSpPr txBox="1"/>
          <p:nvPr/>
        </p:nvSpPr>
        <p:spPr>
          <a:xfrm>
            <a:off x="74700" y="538800"/>
            <a:ext cx="8938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 class has multiple methods having same name but different in parameters, it is known as Method Overloading.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Ways to Overload Methods in Java: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1" i="0" lang="en-US" sz="15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By Changing the Number of Parameters</a:t>
            </a:r>
            <a:endParaRPr b="1" i="0" sz="1500" u="none" cap="none" strike="noStrike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302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1" i="0" lang="en-US" sz="15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By Changing the Data Type of Parameters</a:t>
            </a:r>
            <a:endParaRPr b="1" i="0" sz="1500" u="none" cap="none" strike="noStrike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302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1" i="0" lang="en-US" sz="15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By Changing the Order of Parameters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2fc3c7d326_0_32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Method Overloading in java- Polymorphism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2fc3c7d326_0_32"/>
          <p:cNvSpPr txBox="1"/>
          <p:nvPr/>
        </p:nvSpPr>
        <p:spPr>
          <a:xfrm>
            <a:off x="74700" y="538800"/>
            <a:ext cx="893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By Changing the Number of Parameters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2fc3c7d326_0_32"/>
          <p:cNvSpPr txBox="1"/>
          <p:nvPr/>
        </p:nvSpPr>
        <p:spPr>
          <a:xfrm>
            <a:off x="74700" y="1325000"/>
            <a:ext cx="4369200" cy="4494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Adder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static int add(int a,int b)</a:t>
            </a:r>
            <a:endParaRPr b="0" i="0" sz="16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return a+b;</a:t>
            </a:r>
            <a:endParaRPr b="0" i="0" sz="16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static int add(int a,int b,int c)</a:t>
            </a:r>
            <a:endParaRPr b="0" i="0" sz="16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return a+b+c;</a:t>
            </a:r>
            <a:endParaRPr b="0" i="0" sz="16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2fc3c7d326_0_32"/>
          <p:cNvSpPr txBox="1"/>
          <p:nvPr/>
        </p:nvSpPr>
        <p:spPr>
          <a:xfrm>
            <a:off x="4572000" y="1325000"/>
            <a:ext cx="4441200" cy="3016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TestOverloading1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static void main(String[] args)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</a:t>
            </a:r>
            <a:r>
              <a:rPr b="0" i="0" lang="en-US" sz="16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Adder.add(11,11)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</a:t>
            </a:r>
            <a:r>
              <a:rPr b="0" i="0" lang="en-US" sz="16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Adder.add(11,11,11)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2fc3c7d326_0_42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Method Overloading in java- Polymorphism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2fc3c7d326_0_42"/>
          <p:cNvSpPr txBox="1"/>
          <p:nvPr/>
        </p:nvSpPr>
        <p:spPr>
          <a:xfrm>
            <a:off x="74700" y="538800"/>
            <a:ext cx="893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By Changing the Data Type of Parameters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2fc3c7d326_0_42"/>
          <p:cNvSpPr txBox="1"/>
          <p:nvPr/>
        </p:nvSpPr>
        <p:spPr>
          <a:xfrm>
            <a:off x="74700" y="1325000"/>
            <a:ext cx="4369200" cy="4494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Adder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static int add(int a,int b)</a:t>
            </a:r>
            <a:endParaRPr b="0" i="0" sz="16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return a+b;</a:t>
            </a:r>
            <a:endParaRPr b="0" i="0" sz="16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static double add(double a,double b)</a:t>
            </a:r>
            <a:endParaRPr b="0" i="0" sz="16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return a+b+c;</a:t>
            </a:r>
            <a:endParaRPr b="0" i="0" sz="16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2fc3c7d326_0_42"/>
          <p:cNvSpPr txBox="1"/>
          <p:nvPr/>
        </p:nvSpPr>
        <p:spPr>
          <a:xfrm>
            <a:off x="4572000" y="1325000"/>
            <a:ext cx="4572000" cy="3016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TestOverloading1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static void main(String[] args)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</a:t>
            </a:r>
            <a:r>
              <a:rPr b="0" i="0" lang="en-US" sz="16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Adder.add(11,11)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</a:t>
            </a:r>
            <a:r>
              <a:rPr b="0" i="0" lang="en-US" sz="16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Adder.add(11.00,11.00)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2fc3c7d326_0_4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Method Overloading in java- Polymorphism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2fc3c7d326_0_49"/>
          <p:cNvSpPr txBox="1"/>
          <p:nvPr/>
        </p:nvSpPr>
        <p:spPr>
          <a:xfrm>
            <a:off x="74700" y="538800"/>
            <a:ext cx="893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By Changing the Order of Parameters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2fc3c7d326_0_49"/>
          <p:cNvSpPr txBox="1"/>
          <p:nvPr/>
        </p:nvSpPr>
        <p:spPr>
          <a:xfrm>
            <a:off x="74700" y="1325000"/>
            <a:ext cx="4369200" cy="4494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Adder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static int add(int a,double b)</a:t>
            </a:r>
            <a:endParaRPr b="0" i="0" sz="16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return a+b;</a:t>
            </a:r>
            <a:endParaRPr b="0" i="0" sz="16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static double add(double b,int a)</a:t>
            </a:r>
            <a:endParaRPr b="0" i="0" sz="16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return a+b+c;</a:t>
            </a:r>
            <a:endParaRPr b="0" i="0" sz="16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2fc3c7d326_0_49"/>
          <p:cNvSpPr txBox="1"/>
          <p:nvPr/>
        </p:nvSpPr>
        <p:spPr>
          <a:xfrm>
            <a:off x="4572000" y="1325000"/>
            <a:ext cx="4572000" cy="3016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TestOverloading1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static void main(String[] args)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</a:t>
            </a:r>
            <a:r>
              <a:rPr b="0" i="0" lang="en-US" sz="16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Adder.add(11,11.00)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</a:t>
            </a:r>
            <a:r>
              <a:rPr b="0" i="0" lang="en-US" sz="16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Adder.add(11.00,11)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33aa48bcd3_1_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Copy Constructor- Object Cloning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33aa48bcd3_1_0"/>
          <p:cNvSpPr txBox="1"/>
          <p:nvPr/>
        </p:nvSpPr>
        <p:spPr>
          <a:xfrm>
            <a:off x="74700" y="538800"/>
            <a:ext cx="89385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copy constructor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type of constructor that creates an object using another object of the same class.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no copy constructor in java. But, we can copy the values of one object to another like copy constructor in C++.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many ways to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copy the values of one object into another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java. They are: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1371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constructor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1371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assigning the values of one object into another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1371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clone() method of Object class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33aa48bcd3_1_0"/>
          <p:cNvSpPr txBox="1"/>
          <p:nvPr/>
        </p:nvSpPr>
        <p:spPr>
          <a:xfrm>
            <a:off x="157225" y="2952300"/>
            <a:ext cx="4178400" cy="3955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Student6{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 id;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String name;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Student6(int i,String n){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id = i;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name = n;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Student6(Student6 s){</a:t>
            </a:r>
            <a:endParaRPr b="0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id = s.id;</a:t>
            </a:r>
            <a:endParaRPr b="0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name =s.name;</a:t>
            </a:r>
            <a:endParaRPr b="0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void display(){System.out.println(id+" "+name);}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33aa48bcd3_1_0"/>
          <p:cNvSpPr txBox="1"/>
          <p:nvPr/>
        </p:nvSpPr>
        <p:spPr>
          <a:xfrm>
            <a:off x="4712925" y="2952300"/>
            <a:ext cx="4138500" cy="2662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static void main(String args[])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Student6 s1 = new Student6(111,"Karan");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Student6 s2 = new Student6(s1);</a:t>
            </a:r>
            <a:endParaRPr b="0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s1.display();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s2.display();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2fc3c7d326_0_56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‘this’ reference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2fc3c7d326_0_56"/>
          <p:cNvSpPr txBox="1"/>
          <p:nvPr/>
        </p:nvSpPr>
        <p:spPr>
          <a:xfrm>
            <a:off x="74700" y="538800"/>
            <a:ext cx="89385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Java, ‘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this’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reference variable that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refers to the current object,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can be said “this” in Java is a keyword that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refers to the current object instance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can be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used to call current class methods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fields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to pass an instance of the current class as a parameter, and to differentiate between the local and instance variables.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“this” reference can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improve code readability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reduce naming conflicts.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2fc3c7d326_0_56"/>
          <p:cNvSpPr txBox="1"/>
          <p:nvPr/>
        </p:nvSpPr>
        <p:spPr>
          <a:xfrm>
            <a:off x="153525" y="2102700"/>
            <a:ext cx="4369200" cy="412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class Person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String name;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int age;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Person(String name, int age) {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this.name = name;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this.age = age;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String get_name() { return name;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public void change_name(String name)  {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this.name = name;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2fc3c7d326_0_56"/>
          <p:cNvSpPr txBox="1"/>
          <p:nvPr/>
        </p:nvSpPr>
        <p:spPr>
          <a:xfrm>
            <a:off x="4680400" y="2102700"/>
            <a:ext cx="4463700" cy="4863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void printDetails() 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System.out.println("Name: " +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this.name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System.out.println("Age: " +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this.age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static void main(String[] args)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Person first = new Person("ABC", 18);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Person second = new Person("XYZ", 22);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first.printDetails();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second.printDetails();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first.change_name("PQR");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System.out.println("Name has been     changed to: "  + first.get_name());        }}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33aad18422_0_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Array of Objects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33aad18422_0_0"/>
          <p:cNvSpPr txBox="1"/>
          <p:nvPr/>
        </p:nvSpPr>
        <p:spPr>
          <a:xfrm>
            <a:off x="74700" y="538800"/>
            <a:ext cx="8938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store multiple instances of a class within a single array.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easily manage a collection of objects when working with large datasets or collections.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33aad18422_0_0"/>
          <p:cNvSpPr txBox="1"/>
          <p:nvPr/>
        </p:nvSpPr>
        <p:spPr>
          <a:xfrm>
            <a:off x="137950" y="1517425"/>
            <a:ext cx="90060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1. Declaration: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declare an array of objects, specify the class name followed by square brackets [].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Class_Name[ ] objectArrayReference;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Student[] students;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Alternatively, we can also declare an Array of Objects as,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Class_Name objectArrayReference[ ];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Student students[];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2. Instantiation: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After declaring the array, instantiate it using the new keyword, specifying the size of the array.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Class_Name obj[ ]= new Class_Name[Array_Length];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students = new Student[3];     // An array of 3 Student objects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3. Initialization: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element of the array must be initialized individually, either via constructor or setter methods.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33aad18422_0_1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Array of Objects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33aad18422_0_19"/>
          <p:cNvSpPr txBox="1"/>
          <p:nvPr/>
        </p:nvSpPr>
        <p:spPr>
          <a:xfrm>
            <a:off x="74700" y="538800"/>
            <a:ext cx="893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Structure of an Array Objects:</a:t>
            </a:r>
            <a:endParaRPr b="1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g333aad18422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22300"/>
            <a:ext cx="8296275" cy="49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33aad18422_0_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Array of Objects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33aad18422_0_9"/>
          <p:cNvSpPr txBox="1"/>
          <p:nvPr/>
        </p:nvSpPr>
        <p:spPr>
          <a:xfrm>
            <a:off x="74700" y="538800"/>
            <a:ext cx="893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Initializing Array Of Objects using the constructor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33aad18422_0_9"/>
          <p:cNvSpPr txBox="1"/>
          <p:nvPr/>
        </p:nvSpPr>
        <p:spPr>
          <a:xfrm>
            <a:off x="153525" y="1501625"/>
            <a:ext cx="4625400" cy="4494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Student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int id;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String n;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Student(int id, String n)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this.id = id;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this.n = n;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void display()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System.out.println("ID: " + id + ", Name: " + n);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33aad18422_0_9"/>
          <p:cNvSpPr txBox="1"/>
          <p:nvPr/>
        </p:nvSpPr>
        <p:spPr>
          <a:xfrm>
            <a:off x="5064600" y="1501625"/>
            <a:ext cx="4023300" cy="412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class Main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public static void main(String[] args)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Student[ ] s =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new Student(1, "Ram"),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new Student(2, "Shyam")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};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for (Student s1 : s)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s1.display();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33aad18422_0_27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Array of Objects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33aad18422_0_27"/>
          <p:cNvSpPr txBox="1"/>
          <p:nvPr/>
        </p:nvSpPr>
        <p:spPr>
          <a:xfrm>
            <a:off x="74700" y="538800"/>
            <a:ext cx="893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Initializing Array Of Objects using the setter method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33aad18422_0_27"/>
          <p:cNvSpPr txBox="1"/>
          <p:nvPr/>
        </p:nvSpPr>
        <p:spPr>
          <a:xfrm>
            <a:off x="143675" y="1206025"/>
            <a:ext cx="4625400" cy="5233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Student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public int id;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String n;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void setData(int id, String n) 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this.id = id;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this.n = n;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void display() 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System.out.println("Student id is: " + id + " "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         + "and Student name is: "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         + n);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33aad18422_0_27"/>
          <p:cNvSpPr txBox="1"/>
          <p:nvPr/>
        </p:nvSpPr>
        <p:spPr>
          <a:xfrm>
            <a:off x="5064600" y="1206025"/>
            <a:ext cx="4023300" cy="5602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class Main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static void main(String args[])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Student[] arr = new Student[2];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arr[0] = new Student();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arr[1] = new Student();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arr[0].setData(1, "Sai");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arr[1].setData(2, "Omm");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"Student data in student arr 0: 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arr[0].display();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"Student data in student arr 1: 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arr[1].display();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33aad18422_0_34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Passing and Returning Objects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33aad18422_0_34"/>
          <p:cNvSpPr txBox="1"/>
          <p:nvPr/>
        </p:nvSpPr>
        <p:spPr>
          <a:xfrm>
            <a:off x="74700" y="538800"/>
            <a:ext cx="8938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Although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Java is strictly passed by value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when we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pass an object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 method, objects are passed by what is effectively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call-by-reference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(hybrid between pass-by-value and pass-by-reference).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33aad18422_0_34"/>
          <p:cNvSpPr txBox="1"/>
          <p:nvPr/>
        </p:nvSpPr>
        <p:spPr>
          <a:xfrm>
            <a:off x="114125" y="1747975"/>
            <a:ext cx="4320000" cy="3755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Person {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String name;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Person(String name) {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this.name = name;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public static void modifyName(Person p) {  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p.name = "Ram Kumar";  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}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33aad18422_0_34"/>
          <p:cNvSpPr txBox="1"/>
          <p:nvPr/>
        </p:nvSpPr>
        <p:spPr>
          <a:xfrm>
            <a:off x="4522800" y="1747975"/>
            <a:ext cx="4565100" cy="3755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class ObjectPassingExample {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static void main(String[] args) {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Person person = new Person("Ravi");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System.out.println("Before modification: " + person.name);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person.modifyName(person);  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System.out.println("After modification: " +     person.name);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33aad18422_0_5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Passing Objects through Constructors - Object Cloning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33aad18422_0_50"/>
          <p:cNvSpPr txBox="1"/>
          <p:nvPr/>
        </p:nvSpPr>
        <p:spPr>
          <a:xfrm>
            <a:off x="74700" y="538800"/>
            <a:ext cx="8938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we need to create a new object with the identical initial state as an existing object.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a constructor that takes an object of the class as an argument.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33aad18422_0_50"/>
          <p:cNvSpPr txBox="1"/>
          <p:nvPr/>
        </p:nvSpPr>
        <p:spPr>
          <a:xfrm>
            <a:off x="133850" y="1127200"/>
            <a:ext cx="4438200" cy="5602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Box {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double boxWidth, boxHeight, boxDepth;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Box(Box otherBox) {  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boxWidth = otherBox.boxWidth;  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boxHeight = otherBox.boxHeight;  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boxDepth = otherBox.boxDepth;  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}  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Box(double width, double height, double depth) {      boxWidth = width;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boxHeight = height;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boxDepth = depth;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double calculateVolume() {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return boxWidth * boxHeight * boxDepth;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  }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33aad18422_0_50"/>
          <p:cNvSpPr txBox="1"/>
          <p:nvPr/>
        </p:nvSpPr>
        <p:spPr>
          <a:xfrm>
            <a:off x="4522800" y="1747975"/>
            <a:ext cx="4565100" cy="4863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class ModifiedObjectInitialization {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static void main(String args[]) {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Box originalBox = new Box(10, 15, 25);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Box clonedBox = new Box(originalBox);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double volume;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volume = originalBox.calculateVolume();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System.out.println("Volume of originalBox is " + volume);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volume = clonedBox.calculateVolume();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System.out.println("Volume of clonedBox is " + volume);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33aad18422_0_43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Passing and Returning Objects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33aad18422_0_43"/>
          <p:cNvSpPr txBox="1"/>
          <p:nvPr/>
        </p:nvSpPr>
        <p:spPr>
          <a:xfrm>
            <a:off x="74700" y="538800"/>
            <a:ext cx="893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Returning Objects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33aad18422_0_43"/>
          <p:cNvSpPr txBox="1"/>
          <p:nvPr/>
        </p:nvSpPr>
        <p:spPr>
          <a:xfrm>
            <a:off x="74700" y="1068075"/>
            <a:ext cx="4191900" cy="412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ObjectReturnDemo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int a;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ObjectReturnDemo(int i) { a = i;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ObjectReturnDemo incrByTen()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{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ObjectReturnDemo temp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= new ObjectReturnDemo(a + 10);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return temp;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33aad18422_0_43"/>
          <p:cNvSpPr txBox="1"/>
          <p:nvPr/>
        </p:nvSpPr>
        <p:spPr>
          <a:xfrm>
            <a:off x="4365075" y="1068075"/>
            <a:ext cx="4848000" cy="5233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class ObjectReturningExample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{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static void main(String args[])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ObjectReturnDemo ob1 = new    ObjectReturnDemo(2);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ObjectReturnDemo ob2;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ob2 = ob1.incrByTen();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System.out.println("ob1.a: " + ob1.a);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System.out.println("ob2.a: " + ob2.a);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